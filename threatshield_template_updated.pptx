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6"/>
  </p:notesMasterIdLst>
  <p:sldIdLst>
    <p:sldId id="273" r:id="rId2"/>
    <p:sldId id="274" r:id="rId3"/>
    <p:sldId id="257" r:id="rId4"/>
    <p:sldId id="260" r:id="rId5"/>
    <p:sldId id="259" r:id="rId6"/>
    <p:sldId id="262" r:id="rId7"/>
    <p:sldId id="264" r:id="rId8"/>
    <p:sldId id="263" r:id="rId9"/>
    <p:sldId id="283" r:id="rId10"/>
    <p:sldId id="266" r:id="rId11"/>
    <p:sldId id="267" r:id="rId12"/>
    <p:sldId id="279" r:id="rId13"/>
    <p:sldId id="280" r:id="rId14"/>
    <p:sldId id="278" r:id="rId15"/>
    <p:sldId id="281" r:id="rId16"/>
    <p:sldId id="284" r:id="rId17"/>
    <p:sldId id="285" r:id="rId18"/>
    <p:sldId id="286" r:id="rId19"/>
    <p:sldId id="287" r:id="rId20"/>
    <p:sldId id="288" r:id="rId21"/>
    <p:sldId id="289" r:id="rId22"/>
    <p:sldId id="290" r:id="rId23"/>
    <p:sldId id="271" r:id="rId24"/>
    <p:sldId id="272" r:id="rId25"/>
  </p:sldIdLst>
  <p:sldSz cx="14630400" cy="8229600"/>
  <p:notesSz cx="8229600" cy="14630400"/>
  <p:embeddedFontLst>
    <p:embeddedFont>
      <p:font typeface="PT Serif" panose="020A0603040505020204" pitchFamily="18"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urva Raut" userId="d27b7332f1f6b93c" providerId="LiveId" clId="{177ACAEA-0114-4F1A-AFC4-21AC11E848E2}"/>
    <pc:docChg chg="delSld modSld">
      <pc:chgData name="Purva Raut" userId="d27b7332f1f6b93c" providerId="LiveId" clId="{177ACAEA-0114-4F1A-AFC4-21AC11E848E2}" dt="2025-11-01T06:45:49.582" v="15" actId="1036"/>
      <pc:docMkLst>
        <pc:docMk/>
      </pc:docMkLst>
      <pc:sldChg chg="modSp mod">
        <pc:chgData name="Purva Raut" userId="d27b7332f1f6b93c" providerId="LiveId" clId="{177ACAEA-0114-4F1A-AFC4-21AC11E848E2}" dt="2025-11-01T04:43:46.677" v="5" actId="20577"/>
        <pc:sldMkLst>
          <pc:docMk/>
          <pc:sldMk cId="0" sldId="259"/>
        </pc:sldMkLst>
        <pc:spChg chg="mod">
          <ac:chgData name="Purva Raut" userId="d27b7332f1f6b93c" providerId="LiveId" clId="{177ACAEA-0114-4F1A-AFC4-21AC11E848E2}" dt="2025-11-01T04:43:46.677" v="5" actId="20577"/>
          <ac:spMkLst>
            <pc:docMk/>
            <pc:sldMk cId="0" sldId="259"/>
            <ac:spMk id="3" creationId="{00000000-0000-0000-0000-000000000000}"/>
          </ac:spMkLst>
        </pc:spChg>
      </pc:sldChg>
      <pc:sldChg chg="modSp mod">
        <pc:chgData name="Purva Raut" userId="d27b7332f1f6b93c" providerId="LiveId" clId="{177ACAEA-0114-4F1A-AFC4-21AC11E848E2}" dt="2025-11-01T05:54:50.066" v="13" actId="20577"/>
        <pc:sldMkLst>
          <pc:docMk/>
          <pc:sldMk cId="0" sldId="260"/>
        </pc:sldMkLst>
        <pc:spChg chg="mod">
          <ac:chgData name="Purva Raut" userId="d27b7332f1f6b93c" providerId="LiveId" clId="{177ACAEA-0114-4F1A-AFC4-21AC11E848E2}" dt="2025-11-01T05:48:50.603" v="7" actId="20577"/>
          <ac:spMkLst>
            <pc:docMk/>
            <pc:sldMk cId="0" sldId="260"/>
            <ac:spMk id="15" creationId="{00000000-0000-0000-0000-000000000000}"/>
          </ac:spMkLst>
        </pc:spChg>
        <pc:spChg chg="mod">
          <ac:chgData name="Purva Raut" userId="d27b7332f1f6b93c" providerId="LiveId" clId="{177ACAEA-0114-4F1A-AFC4-21AC11E848E2}" dt="2025-11-01T05:54:50.066" v="13" actId="20577"/>
          <ac:spMkLst>
            <pc:docMk/>
            <pc:sldMk cId="0" sldId="260"/>
            <ac:spMk id="21" creationId="{00000000-0000-0000-0000-000000000000}"/>
          </ac:spMkLst>
        </pc:spChg>
      </pc:sldChg>
      <pc:sldChg chg="del">
        <pc:chgData name="Purva Raut" userId="d27b7332f1f6b93c" providerId="LiveId" clId="{177ACAEA-0114-4F1A-AFC4-21AC11E848E2}" dt="2025-11-01T05:46:17.361" v="6" actId="47"/>
        <pc:sldMkLst>
          <pc:docMk/>
          <pc:sldMk cId="0" sldId="265"/>
        </pc:sldMkLst>
      </pc:sldChg>
      <pc:sldChg chg="modSp mod">
        <pc:chgData name="Purva Raut" userId="d27b7332f1f6b93c" providerId="LiveId" clId="{177ACAEA-0114-4F1A-AFC4-21AC11E848E2}" dt="2025-11-01T06:45:49.582" v="15" actId="1036"/>
        <pc:sldMkLst>
          <pc:docMk/>
          <pc:sldMk cId="2017525876" sldId="275"/>
        </pc:sldMkLst>
        <pc:graphicFrameChg chg="mod">
          <ac:chgData name="Purva Raut" userId="d27b7332f1f6b93c" providerId="LiveId" clId="{177ACAEA-0114-4F1A-AFC4-21AC11E848E2}" dt="2025-11-01T06:45:49.582" v="15" actId="1036"/>
          <ac:graphicFrameMkLst>
            <pc:docMk/>
            <pc:sldMk cId="2017525876" sldId="275"/>
            <ac:graphicFrameMk id="7" creationId="{E642F62E-60EB-BF1A-F743-CC78AB182787}"/>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31248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6B7B86-DE5D-4706-87FF-2AE1696CA4C4}" type="slidenum">
              <a:rPr lang="en-US" smtClean="0"/>
              <a:pPr/>
              <a:t>1</a:t>
            </a:fld>
            <a:endParaRPr lang="en-US"/>
          </a:p>
        </p:txBody>
      </p:sp>
    </p:spTree>
    <p:extLst>
      <p:ext uri="{BB962C8B-B14F-4D97-AF65-F5344CB8AC3E}">
        <p14:creationId xmlns:p14="http://schemas.microsoft.com/office/powerpoint/2010/main" val="172526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6B7B86-DE5D-4706-87FF-2AE1696CA4C4}" type="slidenum">
              <a:rPr lang="en-US" smtClean="0"/>
              <a:pPr/>
              <a:t>2</a:t>
            </a:fld>
            <a:endParaRPr lang="en-US"/>
          </a:p>
        </p:txBody>
      </p:sp>
    </p:spTree>
    <p:extLst>
      <p:ext uri="{BB962C8B-B14F-4D97-AF65-F5344CB8AC3E}">
        <p14:creationId xmlns:p14="http://schemas.microsoft.com/office/powerpoint/2010/main" val="20606838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F5BDA-702F-9CBC-B85D-EAEE995E63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18DF56-08B1-7C0D-AE90-46479959D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F10054-1224-7428-30D6-A24AB2AA1A9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BF9E57E-71B5-60F3-7F1C-A5CBAE3D127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60889862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A22C0-D58C-CB33-0F32-7A23E14381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636B1-DD02-1B31-B0FC-36BF9351A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B8775D-33D8-3941-6B31-1D406A8CDC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5636B2-B9BE-F31F-3F91-4E21DEFE0B8D}"/>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0526027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92303-08B6-B962-1A2A-B1AC9D490A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E43B9-AC94-8FC3-6ECF-33A5F82DE3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C06B94-B469-DCBC-CBFB-59DA800D35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756B71-21B3-15C4-3605-233AE51AD8A5}"/>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0182433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4D6CD-38DF-27FB-27D5-3B2851A24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05DFD1-F46A-18B1-EEC2-5C6AAA5DC0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A0AD43-F3D8-BD12-41A1-DEB2E58F37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2D04A9-3E5C-B52D-BA73-A23DF8CC8790}"/>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4929007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AFAFA"/>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blank">
  <p:cSld name="Blank">
    <p:spTree>
      <p:nvGrpSpPr>
        <p:cNvPr id="1" name=""/>
        <p:cNvGrpSpPr/>
        <p:nvPr/>
      </p:nvGrpSpPr>
      <p:grpSpPr>
        <a:xfrm>
          <a:off x="0" y="0"/>
          <a:ext cx="0" cy="0"/>
          <a:chOff x="0" y="0"/>
          <a:chExt cx="0" cy="0"/>
        </a:xfrm>
      </p:grpSpPr>
      <p:sp>
        <p:nvSpPr>
          <p:cNvPr id="5" name="Rectangle 4"/>
          <p:cNvSpPr/>
          <p:nvPr/>
        </p:nvSpPr>
        <p:spPr>
          <a:xfrm>
            <a:off x="3811" y="7680960"/>
            <a:ext cx="14626591"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9" y="7601179"/>
            <a:ext cx="14626591" cy="7681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0DD1AF8-EB85-49A4-89B5-C8EB53C29C47}" type="datetime1">
              <a:rPr lang="en-US" smtClean="0">
                <a:solidFill>
                  <a:prstClr val="black">
                    <a:tint val="75000"/>
                  </a:prstClr>
                </a:solidFill>
              </a:rPr>
              <a:pPr/>
              <a:t>12/2/2025</a:t>
            </a:fld>
            <a:endParaRPr lang="en-IN"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solidFill>
                  <a:prstClr val="black">
                    <a:tint val="75000"/>
                  </a:prstClr>
                </a:solidFill>
              </a:rPr>
              <a:t>Performance Analysis of Hyperspectral Imagery Data for Improving classification accuracy using Neural Network</a:t>
            </a:r>
            <a:endParaRPr lang="en-IN"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3D243FB0-18C3-4EB8-9F2D-F488D58A1F1B}" type="slidenum">
              <a:rPr lang="en-IN" smtClean="0">
                <a:solidFill>
                  <a:prstClr val="black">
                    <a:tint val="75000"/>
                  </a:prstClr>
                </a:solidFill>
              </a:rPr>
              <a:pPr/>
              <a:t>‹#›</a:t>
            </a:fld>
            <a:endParaRPr lang="en-IN" dirty="0">
              <a:solidFill>
                <a:prstClr val="black">
                  <a:tint val="75000"/>
                </a:prstClr>
              </a:solidFill>
            </a:endParaRPr>
          </a:p>
        </p:txBody>
      </p:sp>
    </p:spTree>
    <p:extLst>
      <p:ext uri="{BB962C8B-B14F-4D97-AF65-F5344CB8AC3E}">
        <p14:creationId xmlns:p14="http://schemas.microsoft.com/office/powerpoint/2010/main" val="37786747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9.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Relationship Id="rId3" Type="http://schemas.openxmlformats.org/officeDocument/2006/relationships/hyperlink" Target="https://leetcode.com/" TargetMode="External"/><Relationship Id="rId4" Type="http://schemas.openxmlformats.org/officeDocument/2006/relationships/hyperlink" Target="https://www.hackerrank.com/" TargetMode="External"/><Relationship Id="rId5" Type="http://schemas.openxmlformats.org/officeDocument/2006/relationships/hyperlink" Target="https://www.interviewbit.com/" TargetMode="External"/><Relationship Id="rId6" Type="http://schemas.openxmlformats.org/officeDocument/2006/relationships/hyperlink" Target="https://www.geeksforgeeks.org/" TargetMode="External"/><Relationship Id="rId7" Type="http://schemas.openxmlformats.org/officeDocument/2006/relationships/hyperlink" Target="https://aws.amazon.com/" TargetMode="External"/><Relationship Id="rId8" Type="http://schemas.openxmlformats.org/officeDocument/2006/relationships/hyperlink" Target="https://judge0.com/" TargetMode="External"/><Relationship Id="rId9" Type="http://schemas.openxmlformats.org/officeDocument/2006/relationships/hyperlink" Target="https://nextjs.org/docs" TargetMode="External"/><Relationship Id="rId10" Type="http://schemas.openxmlformats.org/officeDocument/2006/relationships/hyperlink" Target="https://authjs.dev/" TargetMode="External"/><Relationship Id="rId11" Type="http://schemas.openxmlformats.org/officeDocument/2006/relationships/hyperlink" Target="https://www.npmjs.com/package/@monaco-editor/reac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822607" y="2277044"/>
            <a:ext cx="12747520" cy="3603570"/>
          </a:xfrm>
          <a:prstGeom prst="rect">
            <a:avLst/>
          </a:prstGeom>
          <a:noFill/>
        </p:spPr>
        <p:txBody>
          <a:bodyP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t>THREATSHIELD DL</a:t>
            </a:r>
          </a:p>
          <a:p>
            <a:r>
              <a:t>Web Attack Detection System</a:t>
            </a:r>
          </a:p>
          <a:p/>
          <a:p>
            <a:r>
              <a:t>Group members :</a:t>
            </a:r>
          </a:p>
          <a:p>
            <a:r>
              <a:t>1. Amogh P Kalyanshetti</a:t>
            </a:r>
          </a:p>
          <a:p>
            <a:r>
              <a:t>2. Vikas S Bhosale</a:t>
            </a:r>
          </a:p>
          <a:p>
            <a:r>
              <a:t>3. Aditya N Chorge</a:t>
            </a:r>
          </a:p>
          <a:p/>
          <a:p>
            <a:r>
              <a:t>Under the guidance :</a:t>
            </a:r>
          </a:p>
          <a:p>
            <a:r>
              <a:t>Prof. Shweta Patil</a:t>
            </a:r>
          </a:p>
          <a:p/>
        </p:txBody>
      </p:sp>
      <p:sp>
        <p:nvSpPr>
          <p:cNvPr id="7" name="CustomShape 1">
            <a:extLst>
              <a:ext uri="{FF2B5EF4-FFF2-40B4-BE49-F238E27FC236}">
                <a16:creationId xmlns:a16="http://schemas.microsoft.com/office/drawing/2014/main" id="{5049E4A1-7A43-4958-A248-76DC77B33C4B}"/>
              </a:ext>
            </a:extLst>
          </p:cNvPr>
          <p:cNvSpPr>
            <a:spLocks noChangeArrowheads="1"/>
          </p:cNvSpPr>
          <p:nvPr/>
        </p:nvSpPr>
        <p:spPr bwMode="auto">
          <a:xfrm>
            <a:off x="9655063" y="5780315"/>
            <a:ext cx="4465432" cy="14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111582" tIns="55791" rIns="111582" bIns="55791" anchor="ctr"/>
          <a:lstStyle/>
          <a:p>
            <a:endParaRPr lang="en-US" sz="2314" b="1" dirty="0">
              <a:solidFill>
                <a:srgbClr val="000000"/>
              </a:solidFill>
              <a:latin typeface="Times New Roman" pitchFamily="18" charset="0"/>
              <a:cs typeface="Times New Roman" pitchFamily="18" charset="0"/>
            </a:endParaRPr>
          </a:p>
          <a:p>
            <a:endParaRPr lang="en-US" sz="2314" b="1" dirty="0">
              <a:solidFill>
                <a:srgbClr val="000000"/>
              </a:solidFill>
              <a:latin typeface="Times New Roman" pitchFamily="18" charset="0"/>
              <a:cs typeface="Times New Roman" pitchFamily="18" charset="0"/>
            </a:endParaRPr>
          </a:p>
          <a:p>
            <a:r>
              <a:rPr lang="en-US" sz="2314" b="1" dirty="0">
                <a:solidFill>
                  <a:srgbClr val="000000"/>
                </a:solidFill>
                <a:latin typeface="Times New Roman" pitchFamily="18" charset="0"/>
                <a:cs typeface="Times New Roman" pitchFamily="18" charset="0"/>
              </a:rPr>
              <a:t>Group members :</a:t>
            </a:r>
          </a:p>
          <a:p>
            <a:r>
              <a:rPr lang="en-US" sz="2314" b="1" dirty="0">
                <a:solidFill>
                  <a:srgbClr val="000000"/>
                </a:solidFill>
                <a:latin typeface="Times New Roman" pitchFamily="18" charset="0"/>
                <a:cs typeface="Times New Roman" pitchFamily="18" charset="0"/>
              </a:rPr>
              <a:t>1. Aditya N Chorghe</a:t>
            </a:r>
          </a:p>
          <a:p>
            <a:r>
              <a:rPr lang="en-US" sz="2314" b="1" dirty="0">
                <a:solidFill>
                  <a:srgbClr val="000000"/>
                </a:solidFill>
                <a:latin typeface="Times New Roman" pitchFamily="18" charset="0"/>
                <a:cs typeface="Times New Roman" pitchFamily="18" charset="0"/>
              </a:rPr>
              <a:t>2. </a:t>
            </a:r>
            <a:r>
              <a:rPr lang="en-US" sz="2314" b="1" dirty="0" err="1">
                <a:solidFill>
                  <a:srgbClr val="000000"/>
                </a:solidFill>
                <a:latin typeface="Times New Roman" pitchFamily="18" charset="0"/>
                <a:cs typeface="Times New Roman" pitchFamily="18" charset="0"/>
              </a:rPr>
              <a:t>Vikas</a:t>
            </a:r>
            <a:r>
              <a:rPr lang="en-US" sz="2314" b="1" dirty="0">
                <a:solidFill>
                  <a:srgbClr val="000000"/>
                </a:solidFill>
                <a:latin typeface="Times New Roman" pitchFamily="18" charset="0"/>
                <a:cs typeface="Times New Roman" pitchFamily="18" charset="0"/>
              </a:rPr>
              <a:t> S </a:t>
            </a:r>
            <a:r>
              <a:rPr lang="en-US" sz="2314" b="1" dirty="0" err="1">
                <a:solidFill>
                  <a:srgbClr val="000000"/>
                </a:solidFill>
                <a:latin typeface="Times New Roman" pitchFamily="18" charset="0"/>
                <a:cs typeface="Times New Roman" pitchFamily="18" charset="0"/>
              </a:rPr>
              <a:t>Bhosale</a:t>
            </a:r>
            <a:endParaRPr lang="en-US" sz="2314" b="1" dirty="0">
              <a:solidFill>
                <a:srgbClr val="000000"/>
              </a:solidFill>
              <a:latin typeface="Times New Roman" pitchFamily="18" charset="0"/>
              <a:cs typeface="Times New Roman" pitchFamily="18" charset="0"/>
            </a:endParaRPr>
          </a:p>
          <a:p>
            <a:r>
              <a:rPr lang="en-US" sz="2314" b="1" dirty="0">
                <a:solidFill>
                  <a:srgbClr val="000000"/>
                </a:solidFill>
                <a:latin typeface="Times New Roman" pitchFamily="18" charset="0"/>
                <a:cs typeface="Times New Roman" pitchFamily="18" charset="0"/>
              </a:rPr>
              <a:t>3. Parag P </a:t>
            </a:r>
            <a:r>
              <a:rPr lang="en-US" sz="2314" b="1" dirty="0" err="1">
                <a:solidFill>
                  <a:srgbClr val="000000"/>
                </a:solidFill>
                <a:latin typeface="Times New Roman" pitchFamily="18" charset="0"/>
                <a:cs typeface="Times New Roman" pitchFamily="18" charset="0"/>
              </a:rPr>
              <a:t>Gonji</a:t>
            </a:r>
            <a:endParaRPr lang="en-US" sz="2314" b="1" dirty="0">
              <a:solidFill>
                <a:srgbClr val="000000"/>
              </a:solidFill>
              <a:latin typeface="Times New Roman" pitchFamily="18" charset="0"/>
              <a:cs typeface="Times New Roman" pitchFamily="18" charset="0"/>
            </a:endParaRPr>
          </a:p>
          <a:p>
            <a:r>
              <a:rPr lang="en-US" sz="2314" b="1" dirty="0">
                <a:solidFill>
                  <a:srgbClr val="000000"/>
                </a:solidFill>
                <a:latin typeface="Times New Roman" pitchFamily="18" charset="0"/>
                <a:cs typeface="Times New Roman" pitchFamily="18" charset="0"/>
              </a:rPr>
              <a:t>4. </a:t>
            </a:r>
            <a:r>
              <a:rPr lang="en-US" sz="2314" b="1" dirty="0" err="1">
                <a:solidFill>
                  <a:srgbClr val="000000"/>
                </a:solidFill>
                <a:latin typeface="Times New Roman" pitchFamily="18" charset="0"/>
                <a:cs typeface="Times New Roman" pitchFamily="18" charset="0"/>
              </a:rPr>
              <a:t>Amogh</a:t>
            </a:r>
            <a:r>
              <a:rPr lang="en-US" sz="2314" b="1" dirty="0">
                <a:solidFill>
                  <a:srgbClr val="000000"/>
                </a:solidFill>
                <a:latin typeface="Times New Roman" pitchFamily="18" charset="0"/>
                <a:cs typeface="Times New Roman" pitchFamily="18" charset="0"/>
              </a:rPr>
              <a:t> P </a:t>
            </a:r>
            <a:r>
              <a:rPr lang="en-US" sz="2314" b="1" dirty="0" err="1">
                <a:solidFill>
                  <a:srgbClr val="000000"/>
                </a:solidFill>
                <a:latin typeface="Times New Roman" pitchFamily="18" charset="0"/>
                <a:cs typeface="Times New Roman" pitchFamily="18" charset="0"/>
              </a:rPr>
              <a:t>Kalyanshetti</a:t>
            </a:r>
            <a:endParaRPr lang="en-US" sz="2314" b="1" dirty="0">
              <a:solidFill>
                <a:srgbClr val="000000"/>
              </a:solidFill>
              <a:latin typeface="Times New Roman" pitchFamily="18" charset="0"/>
              <a:cs typeface="Times New Roman" pitchFamily="18" charset="0"/>
            </a:endParaRPr>
          </a:p>
          <a:p>
            <a:r>
              <a:rPr lang="en-US" sz="2314" b="1" dirty="0">
                <a:solidFill>
                  <a:srgbClr val="000000"/>
                </a:solidFill>
                <a:latin typeface="Times New Roman" pitchFamily="18" charset="0"/>
                <a:cs typeface="Times New Roman" pitchFamily="18" charset="0"/>
              </a:rPr>
              <a:t>					          </a:t>
            </a:r>
          </a:p>
          <a:p>
            <a:r>
              <a:rPr lang="en-US" sz="2314" b="1" dirty="0">
                <a:solidFill>
                  <a:srgbClr val="000000"/>
                </a:solidFill>
                <a:latin typeface="Times New Roman" pitchFamily="18" charset="0"/>
                <a:cs typeface="Times New Roman" pitchFamily="18" charset="0"/>
              </a:rPr>
              <a:t>        							 			     	      </a:t>
            </a:r>
          </a:p>
          <a:p>
            <a:r>
              <a:rPr lang="en-US" sz="2314" b="1" dirty="0">
                <a:solidFill>
                  <a:srgbClr val="000000"/>
                </a:solidFill>
                <a:latin typeface="Times New Roman" pitchFamily="18" charset="0"/>
                <a:cs typeface="Times New Roman" pitchFamily="18" charset="0"/>
              </a:rPr>
              <a:t>		        	</a:t>
            </a:r>
          </a:p>
        </p:txBody>
      </p:sp>
      <p:pic>
        <p:nvPicPr>
          <p:cNvPr id="9" name="Picture 2" descr="Mumbai University: Colleges, Admission 2021, Courses, Cut Off, Fees,  Scholarships">
            <a:extLst>
              <a:ext uri="{FF2B5EF4-FFF2-40B4-BE49-F238E27FC236}">
                <a16:creationId xmlns:a16="http://schemas.microsoft.com/office/drawing/2014/main" id="{D9180EE2-ABA5-4867-867A-B926145244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272" y="97972"/>
            <a:ext cx="1032672" cy="97971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3C9953DA-F547-4D82-4C98-BB1A66A5096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246122" y="1"/>
            <a:ext cx="2041617" cy="1531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a:extLst>
              <a:ext uri="{FF2B5EF4-FFF2-40B4-BE49-F238E27FC236}">
                <a16:creationId xmlns:a16="http://schemas.microsoft.com/office/drawing/2014/main" id="{38F10295-7F35-AEAC-0989-CAE0E4E480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8944" y="11226"/>
            <a:ext cx="1283234" cy="1153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26EC604E-05F5-E635-A004-411D2118947C}"/>
              </a:ext>
            </a:extLst>
          </p:cNvPr>
          <p:cNvSpPr txBox="1"/>
          <p:nvPr/>
        </p:nvSpPr>
        <p:spPr>
          <a:xfrm>
            <a:off x="2220686" y="241578"/>
            <a:ext cx="10545575" cy="1793889"/>
          </a:xfrm>
          <a:prstGeom prst="rect">
            <a:avLst/>
          </a:prstGeom>
          <a:noFill/>
        </p:spPr>
        <p:txBody>
          <a:bodyPr wrap="square">
            <a:spAutoFit/>
          </a:bodyPr>
          <a:lstStyle/>
          <a:p>
            <a:pPr algn="ctr"/>
            <a:r>
              <a:rPr lang="en-US" sz="2057" b="1" dirty="0">
                <a:solidFill>
                  <a:schemeClr val="accent1">
                    <a:lumMod val="75000"/>
                  </a:schemeClr>
                </a:solidFill>
                <a:latin typeface="Times New Roman" pitchFamily="18" charset="0"/>
                <a:cs typeface="Times New Roman" pitchFamily="18" charset="0"/>
              </a:rPr>
              <a:t>Mahatma Education Society's</a:t>
            </a:r>
            <a:endParaRPr lang="en-US" sz="3600" b="1" dirty="0">
              <a:solidFill>
                <a:schemeClr val="accent1">
                  <a:lumMod val="75000"/>
                </a:schemeClr>
              </a:solidFill>
              <a:latin typeface="Times New Roman" pitchFamily="18" charset="0"/>
              <a:cs typeface="Times New Roman" pitchFamily="18" charset="0"/>
            </a:endParaRPr>
          </a:p>
          <a:p>
            <a:pPr algn="ctr"/>
            <a:r>
              <a:rPr lang="en-US" sz="3600" b="1" dirty="0">
                <a:solidFill>
                  <a:schemeClr val="accent1">
                    <a:lumMod val="75000"/>
                  </a:schemeClr>
                </a:solidFill>
                <a:latin typeface="Times New Roman" pitchFamily="18" charset="0"/>
                <a:cs typeface="Times New Roman" pitchFamily="18" charset="0"/>
              </a:rPr>
              <a:t>Pillai HOC College of Engineering &amp; Technology</a:t>
            </a:r>
          </a:p>
          <a:p>
            <a:pPr algn="ctr"/>
            <a:r>
              <a:rPr lang="en-US" sz="3600" b="1" dirty="0">
                <a:solidFill>
                  <a:schemeClr val="accent1">
                    <a:lumMod val="75000"/>
                  </a:schemeClr>
                </a:solidFill>
                <a:latin typeface="Times New Roman" pitchFamily="18" charset="0"/>
                <a:cs typeface="Times New Roman" pitchFamily="18" charset="0"/>
              </a:rPr>
              <a:t>Department of Computer Engineering</a:t>
            </a:r>
          </a:p>
          <a:p>
            <a:r>
              <a:rPr lang="en-US" b="1" dirty="0"/>
              <a:t>                                                                                (AUTONOMOUS)</a:t>
            </a:r>
            <a:endParaRPr lang="en-US" sz="3600" b="1" dirty="0">
              <a:solidFill>
                <a:schemeClr val="accent1">
                  <a:lumMod val="75000"/>
                </a:schemeClr>
              </a:solidFill>
              <a:latin typeface="Times New Roman" pitchFamily="18" charset="0"/>
              <a:cs typeface="Times New Roman" pitchFamily="18" charset="0"/>
            </a:endParaRPr>
          </a:p>
        </p:txBody>
      </p:sp>
      <p:sp>
        <p:nvSpPr>
          <p:cNvPr id="8" name="CustomShape 1">
            <a:extLst>
              <a:ext uri="{FF2B5EF4-FFF2-40B4-BE49-F238E27FC236}">
                <a16:creationId xmlns:a16="http://schemas.microsoft.com/office/drawing/2014/main" id="{5049E4A1-7A43-4958-A248-76DC77B33C4B}"/>
              </a:ext>
            </a:extLst>
          </p:cNvPr>
          <p:cNvSpPr>
            <a:spLocks noChangeArrowheads="1"/>
          </p:cNvSpPr>
          <p:nvPr/>
        </p:nvSpPr>
        <p:spPr bwMode="auto">
          <a:xfrm>
            <a:off x="1369790" y="5580555"/>
            <a:ext cx="4465432" cy="14750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a14:hiddenLine>
            </a:ext>
          </a:extLst>
        </p:spPr>
        <p:txBody>
          <a:bodyPr lIns="111582" tIns="55791" rIns="111582" bIns="55791" anchor="ctr"/>
          <a:lstStyle/>
          <a:p>
            <a:endParaRPr lang="en-US" sz="2314" b="1" dirty="0">
              <a:solidFill>
                <a:srgbClr val="000000"/>
              </a:solidFill>
              <a:latin typeface="Times New Roman" pitchFamily="18" charset="0"/>
              <a:cs typeface="Times New Roman" pitchFamily="18" charset="0"/>
            </a:endParaRPr>
          </a:p>
          <a:p>
            <a:endParaRPr lang="en-US" sz="2314" b="1" dirty="0">
              <a:solidFill>
                <a:srgbClr val="000000"/>
              </a:solidFill>
              <a:latin typeface="Times New Roman" pitchFamily="18" charset="0"/>
              <a:cs typeface="Times New Roman" pitchFamily="18" charset="0"/>
            </a:endParaRPr>
          </a:p>
          <a:p>
            <a:endParaRPr lang="en-US" sz="2314" b="1" dirty="0">
              <a:solidFill>
                <a:srgbClr val="000000"/>
              </a:solidFill>
              <a:latin typeface="Times New Roman" pitchFamily="18" charset="0"/>
              <a:cs typeface="Times New Roman" pitchFamily="18" charset="0"/>
            </a:endParaRPr>
          </a:p>
          <a:p>
            <a:r>
              <a:rPr lang="en-US" sz="2314" b="1" dirty="0">
                <a:solidFill>
                  <a:srgbClr val="000000"/>
                </a:solidFill>
                <a:latin typeface="Times New Roman" pitchFamily="18" charset="0"/>
                <a:cs typeface="Times New Roman" pitchFamily="18" charset="0"/>
              </a:rPr>
              <a:t>Under the guidance :</a:t>
            </a:r>
          </a:p>
          <a:p>
            <a:r>
              <a:rPr lang="en-US" sz="2314" b="1" dirty="0">
                <a:solidFill>
                  <a:srgbClr val="000000"/>
                </a:solidFill>
                <a:latin typeface="Times New Roman" pitchFamily="18" charset="0"/>
                <a:cs typeface="Times New Roman" pitchFamily="18" charset="0"/>
              </a:rPr>
              <a:t>Prof. Dr . </a:t>
            </a:r>
            <a:r>
              <a:rPr lang="en-US" sz="2314" b="1" dirty="0" err="1">
                <a:solidFill>
                  <a:srgbClr val="000000"/>
                </a:solidFill>
                <a:latin typeface="Times New Roman" pitchFamily="18" charset="0"/>
                <a:cs typeface="Times New Roman" pitchFamily="18" charset="0"/>
              </a:rPr>
              <a:t>Vibhuti</a:t>
            </a:r>
            <a:r>
              <a:rPr lang="en-US" sz="2314" b="1" dirty="0">
                <a:solidFill>
                  <a:srgbClr val="000000"/>
                </a:solidFill>
                <a:latin typeface="Times New Roman" pitchFamily="18" charset="0"/>
                <a:cs typeface="Times New Roman" pitchFamily="18" charset="0"/>
              </a:rPr>
              <a:t> </a:t>
            </a:r>
            <a:r>
              <a:rPr lang="en-US" sz="2314" b="1" dirty="0" err="1">
                <a:solidFill>
                  <a:srgbClr val="000000"/>
                </a:solidFill>
                <a:latin typeface="Times New Roman" pitchFamily="18" charset="0"/>
                <a:cs typeface="Times New Roman" pitchFamily="18" charset="0"/>
              </a:rPr>
              <a:t>Awasthi</a:t>
            </a:r>
            <a:r>
              <a:rPr lang="en-US" sz="2314" b="1" dirty="0">
                <a:solidFill>
                  <a:srgbClr val="000000"/>
                </a:solidFill>
                <a:latin typeface="Times New Roman" pitchFamily="18" charset="0"/>
                <a:cs typeface="Times New Roman" pitchFamily="18" charset="0"/>
              </a:rPr>
              <a:t>					          </a:t>
            </a:r>
          </a:p>
          <a:p>
            <a:r>
              <a:rPr lang="en-US" sz="2314" b="1" dirty="0">
                <a:solidFill>
                  <a:srgbClr val="000000"/>
                </a:solidFill>
                <a:latin typeface="Times New Roman" pitchFamily="18" charset="0"/>
                <a:cs typeface="Times New Roman" pitchFamily="18" charset="0"/>
              </a:rPr>
              <a:t>        							 			     	      </a:t>
            </a:r>
          </a:p>
          <a:p>
            <a:r>
              <a:rPr lang="en-US" sz="2314" b="1" dirty="0">
                <a:solidFill>
                  <a:srgbClr val="000000"/>
                </a:solidFill>
                <a:latin typeface="Times New Roman" pitchFamily="18" charset="0"/>
                <a:cs typeface="Times New Roman" pitchFamily="18" charset="0"/>
              </a:rPr>
              <a:t>		        	</a:t>
            </a:r>
          </a:p>
        </p:txBody>
      </p:sp>
    </p:spTree>
    <p:extLst>
      <p:ext uri="{BB962C8B-B14F-4D97-AF65-F5344CB8AC3E}">
        <p14:creationId xmlns:p14="http://schemas.microsoft.com/office/powerpoint/2010/main" val="2708683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Mumbai University: Colleges, Admission 2021, Courses, Cut Off, Fees,  Scholarships">
            <a:extLst>
              <a:ext uri="{FF2B5EF4-FFF2-40B4-BE49-F238E27FC236}">
                <a16:creationId xmlns:a16="http://schemas.microsoft.com/office/drawing/2014/main" id="{D9180EE2-ABA5-4867-867A-B9261452440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6272" y="97972"/>
            <a:ext cx="1032672" cy="97971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3C9953DA-F547-4D82-4C98-BB1A66A5096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246122" y="1"/>
            <a:ext cx="2041617" cy="1531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 name="Picture 3">
            <a:extLst>
              <a:ext uri="{FF2B5EF4-FFF2-40B4-BE49-F238E27FC236}">
                <a16:creationId xmlns:a16="http://schemas.microsoft.com/office/drawing/2014/main" id="{38F10295-7F35-AEAC-0989-CAE0E4E480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8944" y="11226"/>
            <a:ext cx="1283234" cy="1153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TextBox 10">
            <a:extLst>
              <a:ext uri="{FF2B5EF4-FFF2-40B4-BE49-F238E27FC236}">
                <a16:creationId xmlns:a16="http://schemas.microsoft.com/office/drawing/2014/main" id="{26EC604E-05F5-E635-A004-411D2118947C}"/>
              </a:ext>
            </a:extLst>
          </p:cNvPr>
          <p:cNvSpPr txBox="1"/>
          <p:nvPr/>
        </p:nvSpPr>
        <p:spPr>
          <a:xfrm>
            <a:off x="2220686" y="259840"/>
            <a:ext cx="10545575" cy="646331"/>
          </a:xfrm>
          <a:prstGeom prst="rect">
            <a:avLst/>
          </a:prstGeom>
          <a:noFill/>
        </p:spPr>
        <p:txBody>
          <a:bodyPr wrap="square">
            <a:spAutoFit/>
          </a:bodyPr>
          <a:lstStyle/>
          <a:p>
            <a:r>
              <a:t>Presentation Outline</a:t>
            </a:r>
          </a:p>
          <a:p/>
          <a:p>
            <a:r>
              <a:t>Introduction</a:t>
            </a:r>
          </a:p>
          <a:p>
            <a:r>
              <a:t>Existing System</a:t>
            </a:r>
          </a:p>
          <a:p>
            <a:r>
              <a:t>Problem Statement</a:t>
            </a:r>
          </a:p>
          <a:p>
            <a:r>
              <a:t>Scope</a:t>
            </a:r>
          </a:p>
          <a:p>
            <a:r>
              <a:t>System Architecture</a:t>
            </a:r>
          </a:p>
          <a:p>
            <a:r>
              <a:t>Proposed Architecture</a:t>
            </a:r>
          </a:p>
          <a:p>
            <a:r>
              <a:t>Methodology</a:t>
            </a:r>
          </a:p>
          <a:p>
            <a:r>
              <a:t>Expected Outcome</a:t>
            </a:r>
          </a:p>
          <a:p>
            <a:r>
              <a:t>Conclusion</a:t>
            </a:r>
          </a:p>
          <a:p>
            <a:r>
              <a:t>References</a:t>
            </a:r>
          </a:p>
          <a:p/>
        </p:txBody>
      </p:sp>
      <p:sp>
        <p:nvSpPr>
          <p:cNvPr id="6" name="Rectangle 5"/>
          <p:cNvSpPr/>
          <p:nvPr/>
        </p:nvSpPr>
        <p:spPr>
          <a:xfrm>
            <a:off x="1338943" y="1342229"/>
            <a:ext cx="7249886" cy="6146426"/>
          </a:xfrm>
          <a:prstGeom prst="rect">
            <a:avLst/>
          </a:prstGeom>
        </p:spPr>
        <p:txBody>
          <a:bodyPr wrap="square">
            <a:spAutoFit/>
          </a:bodyPr>
          <a:lstStyle/>
          <a:p>
            <a:pPr marL="367389" indent="-367389">
              <a:buFont typeface="Wingdings" pitchFamily="2" charset="2"/>
              <a:buChar char="Ø"/>
            </a:pPr>
            <a:r>
              <a:rPr lang="en-US" sz="2314" b="1" dirty="0">
                <a:latin typeface="Times New Roman" pitchFamily="18" charset="0"/>
                <a:cs typeface="Times New Roman" pitchFamily="18" charset="0"/>
              </a:rPr>
              <a:t>Introduction</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r>
              <a:rPr lang="en-US" sz="2314" b="1" dirty="0">
                <a:latin typeface="Times New Roman" pitchFamily="18" charset="0"/>
                <a:cs typeface="Times New Roman" pitchFamily="18" charset="0"/>
              </a:rPr>
              <a:t>Existing system</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r>
              <a:rPr lang="en-US" sz="2314" b="1" dirty="0">
                <a:latin typeface="Times New Roman" pitchFamily="18" charset="0"/>
                <a:cs typeface="Times New Roman" pitchFamily="18" charset="0"/>
              </a:rPr>
              <a:t>Problem statement</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r>
              <a:rPr lang="en-US" sz="2314" b="1" dirty="0">
                <a:latin typeface="Times New Roman" pitchFamily="18" charset="0"/>
                <a:cs typeface="Times New Roman" pitchFamily="18" charset="0"/>
              </a:rPr>
              <a:t>Scope</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r>
              <a:rPr lang="en-US" sz="2314" b="1" dirty="0">
                <a:latin typeface="Times New Roman" pitchFamily="18" charset="0"/>
                <a:cs typeface="Times New Roman" pitchFamily="18" charset="0"/>
              </a:rPr>
              <a:t>System Architecture</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r>
              <a:rPr lang="en-US" sz="2314" b="1" dirty="0">
                <a:latin typeface="Times New Roman" pitchFamily="18" charset="0"/>
                <a:cs typeface="Times New Roman" pitchFamily="18" charset="0"/>
              </a:rPr>
              <a:t>Proposed Architecture</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r>
              <a:rPr lang="en-US" sz="2314" b="1" dirty="0">
                <a:latin typeface="Times New Roman" pitchFamily="18" charset="0"/>
                <a:cs typeface="Times New Roman" pitchFamily="18" charset="0"/>
              </a:rPr>
              <a:t>Methodology</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endParaRPr lang="en-US" sz="2314" b="1" dirty="0">
              <a:latin typeface="Times New Roman" pitchFamily="18" charset="0"/>
              <a:cs typeface="Times New Roman" pitchFamily="18" charset="0"/>
            </a:endParaRPr>
          </a:p>
        </p:txBody>
      </p:sp>
      <p:sp>
        <p:nvSpPr>
          <p:cNvPr id="4" name="Rectangle 3"/>
          <p:cNvSpPr/>
          <p:nvPr/>
        </p:nvSpPr>
        <p:spPr>
          <a:xfrm>
            <a:off x="8029315" y="1272500"/>
            <a:ext cx="5087119" cy="3297441"/>
          </a:xfrm>
          <a:prstGeom prst="rect">
            <a:avLst/>
          </a:prstGeom>
        </p:spPr>
        <p:txBody>
          <a:bodyPr wrap="square">
            <a:spAutoFit/>
          </a:bodyPr>
          <a:lstStyle/>
          <a:p>
            <a:pPr marL="367389" indent="-367389">
              <a:buFont typeface="Wingdings" pitchFamily="2" charset="2"/>
              <a:buChar char="Ø"/>
            </a:pPr>
            <a:r>
              <a:rPr lang="en-US" sz="2314" b="1" dirty="0">
                <a:latin typeface="Times New Roman" pitchFamily="18" charset="0"/>
                <a:cs typeface="Times New Roman" pitchFamily="18" charset="0"/>
              </a:rPr>
              <a:t>Expected Outcome</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r>
              <a:rPr lang="en-US" sz="2314" b="1" dirty="0">
                <a:latin typeface="Times New Roman" pitchFamily="18" charset="0"/>
                <a:cs typeface="Times New Roman" pitchFamily="18" charset="0"/>
              </a:rPr>
              <a:t>Cost estimation</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r>
              <a:rPr lang="en-US" sz="2314" b="1" dirty="0">
                <a:latin typeface="Times New Roman" pitchFamily="18" charset="0"/>
                <a:cs typeface="Times New Roman" pitchFamily="18" charset="0"/>
              </a:rPr>
              <a:t>Gantt Chart</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r>
              <a:rPr lang="en-US" sz="2314" b="1" dirty="0">
                <a:latin typeface="Times New Roman" pitchFamily="18" charset="0"/>
                <a:cs typeface="Times New Roman" pitchFamily="18" charset="0"/>
              </a:rPr>
              <a:t>Conclusion</a:t>
            </a:r>
          </a:p>
          <a:p>
            <a:pPr marL="367389" indent="-367389">
              <a:buFont typeface="Wingdings" pitchFamily="2" charset="2"/>
              <a:buChar char="Ø"/>
            </a:pPr>
            <a:endParaRPr lang="en-US" sz="2314" b="1" dirty="0">
              <a:latin typeface="Times New Roman" pitchFamily="18" charset="0"/>
              <a:cs typeface="Times New Roman" pitchFamily="18" charset="0"/>
            </a:endParaRPr>
          </a:p>
          <a:p>
            <a:pPr marL="367389" indent="-367389">
              <a:buFont typeface="Wingdings" pitchFamily="2" charset="2"/>
              <a:buChar char="Ø"/>
            </a:pPr>
            <a:r>
              <a:rPr lang="en-US" sz="2314" b="1" dirty="0">
                <a:latin typeface="Times New Roman" pitchFamily="18" charset="0"/>
                <a:cs typeface="Times New Roman" pitchFamily="18" charset="0"/>
              </a:rPr>
              <a:t>References</a:t>
            </a:r>
            <a:endParaRPr lang="en-IN" sz="2314" b="1" dirty="0">
              <a:latin typeface="Times New Roman" pitchFamily="18" charset="0"/>
              <a:cs typeface="Times New Roman" pitchFamily="18" charset="0"/>
            </a:endParaRPr>
          </a:p>
        </p:txBody>
      </p:sp>
    </p:spTree>
    <p:extLst>
      <p:ext uri="{BB962C8B-B14F-4D97-AF65-F5344CB8AC3E}">
        <p14:creationId xmlns:p14="http://schemas.microsoft.com/office/powerpoint/2010/main" val="42885291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 name="Text 1"/>
          <p:cNvSpPr/>
          <p:nvPr/>
        </p:nvSpPr>
        <p:spPr>
          <a:xfrm>
            <a:off x="5726260" y="418142"/>
            <a:ext cx="3177880" cy="744260"/>
          </a:xfrm>
          <a:prstGeom prst="rect">
            <a:avLst/>
          </a:prstGeom>
          <a:noFill/>
          <a:ln/>
        </p:spPr>
        <p:txBody>
          <a:bodyPr wrap="none" lIns="0" tIns="0" rIns="0" bIns="0" rtlCol="0" anchor="t"/>
          <a:lstStyle/>
          <a:p>
            <a:r>
              <a:t>Introduction</a:t>
            </a:r>
          </a:p>
          <a:p/>
          <a:p>
            <a:r>
              <a:t>Cyber attacks targeting web applications have increased significantly in recent years. </a:t>
            </a:r>
          </a:p>
          <a:p>
            <a:r>
              <a:t>Malicious activities such as SQL Injection, Cross Site Scripting (XSS), and Path Traversal </a:t>
            </a:r>
          </a:p>
          <a:p>
            <a:r>
              <a:t>are commonly used by attackers to exploit vulnerabilities in web systems. Traditional </a:t>
            </a:r>
          </a:p>
          <a:p>
            <a:r>
              <a:t>security solutions mainly rely on rule‑based filtering which may fail to detect new or </a:t>
            </a:r>
          </a:p>
          <a:p>
            <a:r>
              <a:t>modified attack patterns.</a:t>
            </a:r>
          </a:p>
          <a:p/>
          <a:p>
            <a:r>
              <a:t>ThreatShield DL is a deep learning based web attack detection system designed to analyze </a:t>
            </a:r>
          </a:p>
          <a:p>
            <a:r>
              <a:t>HTTP requests and identify suspicious behavior. The system uses machine learning models </a:t>
            </a:r>
          </a:p>
          <a:p>
            <a:r>
              <a:t>along with rule‑based validation to detect malicious inputs and classify different attack types.</a:t>
            </a:r>
          </a:p>
          <a:p/>
        </p:txBody>
      </p:sp>
      <p:sp>
        <p:nvSpPr>
          <p:cNvPr id="5" name="Text 2"/>
          <p:cNvSpPr/>
          <p:nvPr/>
        </p:nvSpPr>
        <p:spPr>
          <a:xfrm>
            <a:off x="1087190" y="2347975"/>
            <a:ext cx="7401086" cy="4881483"/>
          </a:xfrm>
          <a:prstGeom prst="rect">
            <a:avLst/>
          </a:prstGeom>
          <a:noFill/>
          <a:ln/>
        </p:spPr>
        <p:txBody>
          <a:bodyPr wrap="square" lIns="0" tIns="0" rIns="0" bIns="0" rtlCol="0" anchor="t"/>
          <a:lstStyle/>
          <a:p>
            <a:pPr algn="just"/>
            <a:r>
              <a:rPr lang="en-US" sz="2000" dirty="0"/>
              <a:t> A job application website is essentially a </a:t>
            </a:r>
            <a:r>
              <a:rPr lang="en-US" sz="2000" b="1" dirty="0"/>
              <a:t>digital marketplace</a:t>
            </a:r>
            <a:r>
              <a:rPr lang="en-US" sz="2000" dirty="0"/>
              <a:t> that stands at the intersection of talent and opportunity. It functions as a powerful, </a:t>
            </a:r>
            <a:r>
              <a:rPr lang="en-US" sz="2000" b="1" dirty="0"/>
              <a:t>two-sided network</a:t>
            </a:r>
            <a:r>
              <a:rPr lang="en-US" sz="2000" dirty="0"/>
              <a:t>, providing a central platform where </a:t>
            </a:r>
            <a:r>
              <a:rPr lang="en-US" sz="2000" b="1" dirty="0"/>
              <a:t>employers</a:t>
            </a:r>
            <a:r>
              <a:rPr lang="en-US" sz="2000" dirty="0"/>
              <a:t> can efficiently post and manage job openings, and </a:t>
            </a:r>
            <a:r>
              <a:rPr lang="en-US" sz="2000" b="1" dirty="0"/>
              <a:t>job seekers</a:t>
            </a:r>
            <a:r>
              <a:rPr lang="en-US" sz="2000" dirty="0"/>
              <a:t> can actively search, discover, and apply for roles globally.</a:t>
            </a:r>
          </a:p>
          <a:p>
            <a:pPr algn="just"/>
            <a:r>
              <a:rPr lang="en-US" sz="2000" dirty="0"/>
              <a:t>Far more than just a listing service, these platforms streamline the entire </a:t>
            </a:r>
            <a:r>
              <a:rPr lang="en-US" sz="2000" b="1" dirty="0"/>
              <a:t>recruitment process</a:t>
            </a:r>
            <a:r>
              <a:rPr lang="en-US" sz="2000" dirty="0"/>
              <a:t>. For candidates, they offer advanced search filters, personalized profiles, and simplified, often one-click, application methods. For companies, they are crucial business tools, leveraging systems like </a:t>
            </a:r>
            <a:r>
              <a:rPr lang="en-US" sz="2000" b="1" dirty="0"/>
              <a:t>Applicant Tracking Systems (ATS)</a:t>
            </a:r>
            <a:r>
              <a:rPr lang="en-US" sz="2000" dirty="0"/>
              <a:t> and recruiter dashboards to automate screening, filter resumes based on keywords, and dramatically reduce the time it takes to find and hire the best fit</a:t>
            </a:r>
          </a:p>
        </p:txBody>
      </p:sp>
      <p:sp>
        <p:nvSpPr>
          <p:cNvPr id="3" name="Rectangle 2">
            <a:extLst>
              <a:ext uri="{FF2B5EF4-FFF2-40B4-BE49-F238E27FC236}">
                <a16:creationId xmlns:a16="http://schemas.microsoft.com/office/drawing/2014/main" id="{225C3592-3CED-A1B4-AFD9-723250A07772}"/>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pic>
        <p:nvPicPr>
          <p:cNvPr id="7" name="Picture 6">
            <a:extLst>
              <a:ext uri="{FF2B5EF4-FFF2-40B4-BE49-F238E27FC236}">
                <a16:creationId xmlns:a16="http://schemas.microsoft.com/office/drawing/2014/main" id="{758ED9AF-6BA8-0044-967F-B890CAD41172}"/>
              </a:ext>
            </a:extLst>
          </p:cNvPr>
          <p:cNvPicPr>
            <a:picLocks noChangeAspect="1"/>
          </p:cNvPicPr>
          <p:nvPr/>
        </p:nvPicPr>
        <p:blipFill>
          <a:blip r:embed="rId3"/>
          <a:stretch>
            <a:fillRect/>
          </a:stretch>
        </p:blipFill>
        <p:spPr>
          <a:xfrm>
            <a:off x="9320365" y="2032991"/>
            <a:ext cx="4401264" cy="44012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887992" y="518784"/>
            <a:ext cx="4854297" cy="606743"/>
          </a:xfrm>
          <a:prstGeom prst="rect">
            <a:avLst/>
          </a:prstGeom>
          <a:noFill/>
          <a:ln/>
        </p:spPr>
        <p:txBody>
          <a:bodyPr wrap="none" lIns="0" tIns="0" rIns="0" bIns="0" rtlCol="0" anchor="t"/>
          <a:lstStyle/>
          <a:p>
            <a:r>
              <a:t>Existing System</a:t>
            </a:r>
          </a:p>
          <a:p/>
          <a:p>
            <a:r>
              <a:t>Traditional web security systems depend mainly on static rules and signature based detection.</a:t>
            </a:r>
          </a:p>
          <a:p>
            <a:r>
              <a:t>These methods can detect known attacks but often fail to identify new or modified attack patterns.</a:t>
            </a:r>
          </a:p>
          <a:p/>
          <a:p>
            <a:r>
              <a:t>Web servers typically rely on simple input validation techniques which may not detect complex </a:t>
            </a:r>
          </a:p>
          <a:p>
            <a:r>
              <a:t>malicious payloads. As a result, attackers can bypass security mechanisms using advanced </a:t>
            </a:r>
          </a:p>
          <a:p>
            <a:r>
              <a:t>techniques.</a:t>
            </a:r>
          </a:p>
          <a:p/>
          <a:p>
            <a:r>
              <a:t>The existing systems also lack intelligent monitoring capabilities and real‑time attack </a:t>
            </a:r>
          </a:p>
          <a:p>
            <a:r>
              <a:t>analysis which makes web applications vulnerable to modern cyber threats.</a:t>
            </a:r>
          </a:p>
          <a:p/>
        </p:txBody>
      </p:sp>
      <p:sp>
        <p:nvSpPr>
          <p:cNvPr id="3" name="Text 1"/>
          <p:cNvSpPr/>
          <p:nvPr/>
        </p:nvSpPr>
        <p:spPr>
          <a:xfrm>
            <a:off x="761405" y="1482328"/>
            <a:ext cx="4531281" cy="303371"/>
          </a:xfrm>
          <a:prstGeom prst="rect">
            <a:avLst/>
          </a:prstGeom>
          <a:noFill/>
          <a:ln/>
        </p:spPr>
        <p:txBody>
          <a:bodyPr wrap="none" lIns="0" tIns="0" rIns="0" bIns="0" rtlCol="0" anchor="t"/>
          <a:lstStyle/>
          <a:p>
            <a:pPr marL="0" indent="0" algn="l">
              <a:lnSpc>
                <a:spcPts val="2350"/>
              </a:lnSpc>
              <a:buNone/>
            </a:pPr>
            <a:endParaRPr lang="en-US" sz="1900" dirty="0"/>
          </a:p>
        </p:txBody>
      </p:sp>
      <p:sp>
        <p:nvSpPr>
          <p:cNvPr id="8" name="Text 5"/>
          <p:cNvSpPr/>
          <p:nvPr/>
        </p:nvSpPr>
        <p:spPr>
          <a:xfrm>
            <a:off x="757770" y="2121632"/>
            <a:ext cx="3345180" cy="303371"/>
          </a:xfrm>
          <a:prstGeom prst="rect">
            <a:avLst/>
          </a:prstGeom>
          <a:noFill/>
          <a:ln/>
        </p:spPr>
        <p:txBody>
          <a:bodyPr wrap="none" lIns="0" tIns="0" rIns="0" bIns="0" rtlCol="0" anchor="t"/>
          <a:lstStyle/>
          <a:p>
            <a:pPr marL="0" indent="0" algn="l">
              <a:lnSpc>
                <a:spcPts val="2350"/>
              </a:lnSpc>
              <a:buNone/>
            </a:pPr>
            <a:endParaRPr lang="en-US" sz="1900" dirty="0"/>
          </a:p>
        </p:txBody>
      </p:sp>
      <p:sp>
        <p:nvSpPr>
          <p:cNvPr id="9" name="Text 6"/>
          <p:cNvSpPr/>
          <p:nvPr/>
        </p:nvSpPr>
        <p:spPr>
          <a:xfrm>
            <a:off x="1571809" y="1724315"/>
            <a:ext cx="11673440" cy="3530069"/>
          </a:xfrm>
          <a:prstGeom prst="rect">
            <a:avLst/>
          </a:prstGeom>
          <a:noFill/>
          <a:ln/>
        </p:spPr>
        <p:txBody>
          <a:bodyPr wrap="square" lIns="0" tIns="0" rIns="0" bIns="0" rtlCol="0" anchor="t"/>
          <a:lstStyle/>
          <a:p>
            <a:pPr>
              <a:lnSpc>
                <a:spcPct val="150000"/>
              </a:lnSpc>
            </a:pPr>
            <a:r>
              <a:rPr lang="en-US" sz="2000" dirty="0">
                <a:latin typeface="Times New Roman" panose="02020603050405020304" pitchFamily="18" charset="0"/>
                <a:cs typeface="Times New Roman" panose="02020603050405020304" pitchFamily="18" charset="0"/>
              </a:rPr>
              <a:t>The current job recruitment process is largely fragmented and inefficient. Most companies rely on traditional methods such as email-based applications, manual resume screening, and in-person submissions, which makes the process slow and unorganized. Job seekers often struggle with finding authentic job postings, as many listings on social media or unverified websites lack credibility. The absence of centralized platforms leads to scattered information, forcing applicants to navigate multiple sources to find suitable opportunities.</a:t>
            </a: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Additionally, employers face significant challenges in managing hundreds of resumes manually, tracking candidate progress, and communicating updates effectively. There is often no automated filtering system, making it difficult to shortlist qualified candidates quickly. The lack of real-time status updates also results in poor transparency for applicants. Overall, the existing system is inefficient, time-consuming, and lacks the structured workflow needed for modern hiring.</a:t>
            </a:r>
          </a:p>
        </p:txBody>
      </p:sp>
      <p:sp>
        <p:nvSpPr>
          <p:cNvPr id="14" name="Text 10"/>
          <p:cNvSpPr/>
          <p:nvPr/>
        </p:nvSpPr>
        <p:spPr>
          <a:xfrm>
            <a:off x="771366" y="3303666"/>
            <a:ext cx="2641997" cy="303371"/>
          </a:xfrm>
          <a:prstGeom prst="rect">
            <a:avLst/>
          </a:prstGeom>
          <a:noFill/>
          <a:ln/>
        </p:spPr>
        <p:txBody>
          <a:bodyPr wrap="none" lIns="0" tIns="0" rIns="0" bIns="0" rtlCol="0" anchor="t"/>
          <a:lstStyle/>
          <a:p>
            <a:pPr marL="0" indent="0" algn="l">
              <a:lnSpc>
                <a:spcPts val="2350"/>
              </a:lnSpc>
              <a:buNone/>
            </a:pPr>
            <a:endParaRPr lang="en-US" sz="1900" dirty="0"/>
          </a:p>
        </p:txBody>
      </p:sp>
      <p:sp>
        <p:nvSpPr>
          <p:cNvPr id="15" name="Text 11"/>
          <p:cNvSpPr/>
          <p:nvPr/>
        </p:nvSpPr>
        <p:spPr>
          <a:xfrm>
            <a:off x="771366" y="3648898"/>
            <a:ext cx="12985076" cy="710964"/>
          </a:xfrm>
          <a:prstGeom prst="rect">
            <a:avLst/>
          </a:prstGeom>
          <a:noFill/>
          <a:ln/>
        </p:spPr>
        <p:txBody>
          <a:bodyPr wrap="square" lIns="0" tIns="0" rIns="0" bIns="0" rtlCol="0" anchor="t"/>
          <a:lstStyle/>
          <a:p>
            <a:pPr marL="0" indent="0" algn="l">
              <a:lnSpc>
                <a:spcPts val="2300"/>
              </a:lnSpc>
              <a:buNone/>
            </a:pPr>
            <a:endParaRPr lang="en-US" sz="1450" dirty="0"/>
          </a:p>
        </p:txBody>
      </p:sp>
      <p:sp>
        <p:nvSpPr>
          <p:cNvPr id="20" name="Text 15"/>
          <p:cNvSpPr/>
          <p:nvPr/>
        </p:nvSpPr>
        <p:spPr>
          <a:xfrm>
            <a:off x="757770" y="4503595"/>
            <a:ext cx="2562939" cy="303371"/>
          </a:xfrm>
          <a:prstGeom prst="rect">
            <a:avLst/>
          </a:prstGeom>
          <a:noFill/>
          <a:ln/>
        </p:spPr>
        <p:txBody>
          <a:bodyPr wrap="none" lIns="0" tIns="0" rIns="0" bIns="0" rtlCol="0" anchor="t"/>
          <a:lstStyle/>
          <a:p>
            <a:pPr marL="0" indent="0" algn="l">
              <a:lnSpc>
                <a:spcPts val="2350"/>
              </a:lnSpc>
              <a:buNone/>
            </a:pPr>
            <a:endParaRPr lang="en-US" sz="1900" dirty="0"/>
          </a:p>
        </p:txBody>
      </p:sp>
      <p:sp>
        <p:nvSpPr>
          <p:cNvPr id="21" name="Text 16"/>
          <p:cNvSpPr/>
          <p:nvPr/>
        </p:nvSpPr>
        <p:spPr>
          <a:xfrm>
            <a:off x="761402" y="4841248"/>
            <a:ext cx="12899710" cy="598115"/>
          </a:xfrm>
          <a:prstGeom prst="rect">
            <a:avLst/>
          </a:prstGeom>
          <a:noFill/>
          <a:ln/>
        </p:spPr>
        <p:txBody>
          <a:bodyPr wrap="square" lIns="0" tIns="0" rIns="0" bIns="0" rtlCol="0" anchor="t"/>
          <a:lstStyle/>
          <a:p>
            <a:pPr marL="0" indent="0" algn="l">
              <a:lnSpc>
                <a:spcPts val="2300"/>
              </a:lnSpc>
              <a:buNone/>
            </a:pPr>
            <a:endParaRPr lang="en-US" sz="1450" dirty="0"/>
          </a:p>
        </p:txBody>
      </p:sp>
      <p:sp>
        <p:nvSpPr>
          <p:cNvPr id="26" name="Text 20"/>
          <p:cNvSpPr/>
          <p:nvPr/>
        </p:nvSpPr>
        <p:spPr>
          <a:xfrm>
            <a:off x="761402" y="5726830"/>
            <a:ext cx="2555677" cy="303371"/>
          </a:xfrm>
          <a:prstGeom prst="rect">
            <a:avLst/>
          </a:prstGeom>
          <a:noFill/>
          <a:ln/>
        </p:spPr>
        <p:txBody>
          <a:bodyPr wrap="none" lIns="0" tIns="0" rIns="0" bIns="0" rtlCol="0" anchor="t"/>
          <a:lstStyle/>
          <a:p>
            <a:pPr marL="0" indent="0" algn="l">
              <a:lnSpc>
                <a:spcPts val="2350"/>
              </a:lnSpc>
              <a:buNone/>
            </a:pPr>
            <a:endParaRPr lang="en-US" sz="1900" dirty="0"/>
          </a:p>
        </p:txBody>
      </p:sp>
      <p:sp>
        <p:nvSpPr>
          <p:cNvPr id="27" name="Text 21"/>
          <p:cNvSpPr/>
          <p:nvPr/>
        </p:nvSpPr>
        <p:spPr>
          <a:xfrm>
            <a:off x="761402" y="6110219"/>
            <a:ext cx="13107475" cy="412696"/>
          </a:xfrm>
          <a:prstGeom prst="rect">
            <a:avLst/>
          </a:prstGeom>
          <a:noFill/>
          <a:ln/>
        </p:spPr>
        <p:txBody>
          <a:bodyPr wrap="square" lIns="0" tIns="0" rIns="0" bIns="0" rtlCol="0" anchor="t"/>
          <a:lstStyle/>
          <a:p>
            <a:pPr marL="0" indent="0" algn="l">
              <a:lnSpc>
                <a:spcPts val="2300"/>
              </a:lnSpc>
              <a:buNone/>
            </a:pPr>
            <a:endParaRPr lang="en-US" sz="1450" dirty="0"/>
          </a:p>
        </p:txBody>
      </p:sp>
      <p:sp>
        <p:nvSpPr>
          <p:cNvPr id="32" name="Text 25"/>
          <p:cNvSpPr/>
          <p:nvPr/>
        </p:nvSpPr>
        <p:spPr>
          <a:xfrm>
            <a:off x="761402" y="6701057"/>
            <a:ext cx="3177302" cy="303371"/>
          </a:xfrm>
          <a:prstGeom prst="rect">
            <a:avLst/>
          </a:prstGeom>
          <a:noFill/>
          <a:ln/>
        </p:spPr>
        <p:txBody>
          <a:bodyPr wrap="none" lIns="0" tIns="0" rIns="0" bIns="0" rtlCol="0" anchor="t"/>
          <a:lstStyle/>
          <a:p>
            <a:pPr marL="0" indent="0" algn="l">
              <a:lnSpc>
                <a:spcPts val="2350"/>
              </a:lnSpc>
              <a:buNone/>
            </a:pPr>
            <a:endParaRPr lang="en-US" sz="1900" dirty="0"/>
          </a:p>
        </p:txBody>
      </p:sp>
      <p:sp>
        <p:nvSpPr>
          <p:cNvPr id="33" name="Text 26"/>
          <p:cNvSpPr/>
          <p:nvPr/>
        </p:nvSpPr>
        <p:spPr>
          <a:xfrm>
            <a:off x="757770" y="7052452"/>
            <a:ext cx="12899711" cy="303371"/>
          </a:xfrm>
          <a:prstGeom prst="rect">
            <a:avLst/>
          </a:prstGeom>
          <a:noFill/>
          <a:ln/>
        </p:spPr>
        <p:txBody>
          <a:bodyPr wrap="square" lIns="0" tIns="0" rIns="0" bIns="0" rtlCol="0" anchor="t"/>
          <a:lstStyle/>
          <a:p>
            <a:pPr marL="0" indent="0" algn="l">
              <a:lnSpc>
                <a:spcPts val="2300"/>
              </a:lnSpc>
              <a:buNone/>
            </a:pPr>
            <a:endParaRPr lang="en-US" sz="1450" dirty="0"/>
          </a:p>
        </p:txBody>
      </p:sp>
      <p:sp>
        <p:nvSpPr>
          <p:cNvPr id="4" name="Rectangle 3">
            <a:extLst>
              <a:ext uri="{FF2B5EF4-FFF2-40B4-BE49-F238E27FC236}">
                <a16:creationId xmlns:a16="http://schemas.microsoft.com/office/drawing/2014/main" id="{C93A646E-2729-28A9-0413-8BF6E4CF05D3}"/>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719757" y="143113"/>
            <a:ext cx="4398303" cy="1027033"/>
          </a:xfrm>
          <a:prstGeom prst="rect">
            <a:avLst/>
          </a:prstGeom>
          <a:noFill/>
          <a:ln/>
        </p:spPr>
        <p:txBody>
          <a:bodyPr wrap="none" lIns="0" tIns="0" rIns="0" bIns="0" rtlCol="0" anchor="t"/>
          <a:lstStyle/>
          <a:p>
            <a:r>
              <a:t>Problem Statement</a:t>
            </a:r>
          </a:p>
          <a:p/>
          <a:p>
            <a:r>
              <a:t>Web applications are frequently targeted by cyber attacks such as SQL Injection, XSS, </a:t>
            </a:r>
          </a:p>
          <a:p>
            <a:r>
              <a:t>and Path Traversal which can compromise sensitive data and disrupt services.</a:t>
            </a:r>
          </a:p>
          <a:p/>
          <a:p>
            <a:r>
              <a:t>Traditional security approaches struggle to detect evolving attack patterns and require </a:t>
            </a:r>
          </a:p>
          <a:p>
            <a:r>
              <a:t>significant manual monitoring.</a:t>
            </a:r>
          </a:p>
          <a:p/>
          <a:p>
            <a:r>
              <a:t>There is a need for an intelligent system capable of automatically analyzing HTTP requests, </a:t>
            </a:r>
          </a:p>
          <a:p>
            <a:r>
              <a:t>detecting malicious patterns, and providing real‑time alerts to improve web security.</a:t>
            </a:r>
          </a:p>
          <a:p/>
        </p:txBody>
      </p:sp>
      <p:sp>
        <p:nvSpPr>
          <p:cNvPr id="3" name="Text 1"/>
          <p:cNvSpPr/>
          <p:nvPr/>
        </p:nvSpPr>
        <p:spPr>
          <a:xfrm>
            <a:off x="1604019" y="2363986"/>
            <a:ext cx="10629780" cy="4836914"/>
          </a:xfrm>
          <a:prstGeom prst="rect">
            <a:avLst/>
          </a:prstGeom>
          <a:noFill/>
          <a:ln/>
        </p:spPr>
        <p:txBody>
          <a:bodyPr wrap="square" lIns="0" tIns="0" rIns="0" bIns="0" rtlCol="0" anchor="t"/>
          <a:lstStyle/>
          <a:p>
            <a:r>
              <a:rPr lang="en-US" sz="2000" dirty="0"/>
              <a:t>Finding a suitable job and managing the recruitment process is often time-consuming and inefficient for both job seekers and employers. </a:t>
            </a:r>
          </a:p>
          <a:p>
            <a:endParaRPr lang="en-US" sz="2000" dirty="0"/>
          </a:p>
          <a:p>
            <a:r>
              <a:rPr lang="en-US" sz="2000" dirty="0"/>
              <a:t>Job seekers struggle to access authentic job listings, apply easily, and track their application status. Employers face challenges in reaching the right candidates, managing multiple applications, and conducting an organized hiring process.</a:t>
            </a:r>
          </a:p>
          <a:p>
            <a:endParaRPr lang="en-US" sz="2000" dirty="0"/>
          </a:p>
          <a:p>
            <a:r>
              <a:rPr lang="en-US" sz="2000" dirty="0"/>
              <a:t>There is a need for a centralized, user-friendly online platform that connects employers and job seekers, simplifies the application process, and ensures efficient, transparent, and organized recruitment.</a:t>
            </a:r>
          </a:p>
        </p:txBody>
      </p:sp>
      <p:sp>
        <p:nvSpPr>
          <p:cNvPr id="4" name="Text 2"/>
          <p:cNvSpPr/>
          <p:nvPr/>
        </p:nvSpPr>
        <p:spPr>
          <a:xfrm>
            <a:off x="793790" y="7200900"/>
            <a:ext cx="2977039" cy="372070"/>
          </a:xfrm>
          <a:prstGeom prst="rect">
            <a:avLst/>
          </a:prstGeom>
          <a:noFill/>
          <a:ln/>
        </p:spPr>
        <p:txBody>
          <a:bodyPr wrap="none" lIns="0" tIns="0" rIns="0" bIns="0" rtlCol="0" anchor="t"/>
          <a:lstStyle/>
          <a:p>
            <a:pPr marL="0" indent="0" algn="l">
              <a:lnSpc>
                <a:spcPts val="2900"/>
              </a:lnSpc>
              <a:buNone/>
            </a:pPr>
            <a:endParaRPr lang="en-US" sz="2300" dirty="0"/>
          </a:p>
        </p:txBody>
      </p:sp>
      <p:sp>
        <p:nvSpPr>
          <p:cNvPr id="5" name="Rectangle 4">
            <a:extLst>
              <a:ext uri="{FF2B5EF4-FFF2-40B4-BE49-F238E27FC236}">
                <a16:creationId xmlns:a16="http://schemas.microsoft.com/office/drawing/2014/main" id="{1FB259DC-6158-EAD3-A2D7-006AC3618EA3}"/>
              </a:ext>
            </a:extLst>
          </p:cNvPr>
          <p:cNvSpPr/>
          <p:nvPr/>
        </p:nvSpPr>
        <p:spPr>
          <a:xfrm>
            <a:off x="12656634"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784646" y="322421"/>
            <a:ext cx="5060990" cy="632579"/>
          </a:xfrm>
          <a:prstGeom prst="rect">
            <a:avLst/>
          </a:prstGeom>
          <a:noFill/>
          <a:ln/>
        </p:spPr>
        <p:txBody>
          <a:bodyPr wrap="none" lIns="0" tIns="0" rIns="0" bIns="0" rtlCol="0" anchor="t"/>
          <a:lstStyle/>
          <a:p>
            <a:r>
              <a:t>Scope</a:t>
            </a:r>
          </a:p>
          <a:p/>
          <a:p>
            <a:r>
              <a:t>The ThreatShield DL system focuses on detecting malicious HTTP requests using </a:t>
            </a:r>
          </a:p>
          <a:p>
            <a:r>
              <a:t>machine learning and cybersecurity techniques.</a:t>
            </a:r>
          </a:p>
          <a:p/>
          <a:p>
            <a:r>
              <a:t>The system analyzes user inputs and identifies potential web attacks including </a:t>
            </a:r>
          </a:p>
          <a:p>
            <a:r>
              <a:t>SQL Injection, Cross Site Scripting (XSS), and Path Traversal.</a:t>
            </a:r>
          </a:p>
          <a:p/>
          <a:p>
            <a:r>
              <a:t>It also provides a web‑based dashboard where users can test HTTP requests </a:t>
            </a:r>
          </a:p>
          <a:p>
            <a:r>
              <a:t>and view attack detection results along with confidence scores.</a:t>
            </a:r>
          </a:p>
          <a:p/>
        </p:txBody>
      </p:sp>
      <p:sp>
        <p:nvSpPr>
          <p:cNvPr id="3" name="Shape 1"/>
          <p:cNvSpPr/>
          <p:nvPr/>
        </p:nvSpPr>
        <p:spPr>
          <a:xfrm>
            <a:off x="793790" y="1902976"/>
            <a:ext cx="6424970" cy="1479828"/>
          </a:xfrm>
          <a:prstGeom prst="roundRect">
            <a:avLst>
              <a:gd name="adj" fmla="val 7415"/>
            </a:avLst>
          </a:prstGeom>
          <a:solidFill>
            <a:srgbClr val="FFFFFF"/>
          </a:solidFill>
          <a:ln w="22860">
            <a:solidFill>
              <a:srgbClr val="D8D4D4"/>
            </a:solidFill>
            <a:prstDash val="solid"/>
          </a:ln>
        </p:spPr>
      </p:sp>
      <p:sp>
        <p:nvSpPr>
          <p:cNvPr id="4" name="Shape 2"/>
          <p:cNvSpPr/>
          <p:nvPr/>
        </p:nvSpPr>
        <p:spPr>
          <a:xfrm>
            <a:off x="770930" y="1902976"/>
            <a:ext cx="91440" cy="1479828"/>
          </a:xfrm>
          <a:prstGeom prst="roundRect">
            <a:avLst>
              <a:gd name="adj" fmla="val 31628"/>
            </a:avLst>
          </a:prstGeom>
          <a:solidFill>
            <a:srgbClr val="E04F00"/>
          </a:solidFill>
          <a:ln/>
        </p:spPr>
      </p:sp>
      <p:sp>
        <p:nvSpPr>
          <p:cNvPr id="5" name="Text 3"/>
          <p:cNvSpPr/>
          <p:nvPr/>
        </p:nvSpPr>
        <p:spPr>
          <a:xfrm>
            <a:off x="1077992" y="2118598"/>
            <a:ext cx="3260765" cy="316230"/>
          </a:xfrm>
          <a:prstGeom prst="rect">
            <a:avLst/>
          </a:prstGeom>
          <a:noFill/>
          <a:ln/>
        </p:spPr>
        <p:txBody>
          <a:bodyPr wrap="none" lIns="0" tIns="0" rIns="0" bIns="0" rtlCol="0" anchor="t"/>
          <a:lstStyle/>
          <a:p>
            <a:pPr>
              <a:lnSpc>
                <a:spcPts val="2450"/>
              </a:lnSpc>
            </a:pPr>
            <a:r>
              <a:rPr lang="en-IN" sz="2000" dirty="0">
                <a:latin typeface="Times New Roman" panose="02020603050405020304" pitchFamily="18" charset="0"/>
                <a:cs typeface="Times New Roman" panose="02020603050405020304" pitchFamily="18" charset="0"/>
              </a:rPr>
              <a:t>Job Posting and Workflow:</a:t>
            </a:r>
            <a:endParaRPr lang="en-US" sz="1950" dirty="0">
              <a:latin typeface="Times New Roman" panose="02020603050405020304" pitchFamily="18" charset="0"/>
              <a:cs typeface="Times New Roman" panose="02020603050405020304" pitchFamily="18" charset="0"/>
            </a:endParaRPr>
          </a:p>
        </p:txBody>
      </p:sp>
      <p:sp>
        <p:nvSpPr>
          <p:cNvPr id="6" name="Text 4"/>
          <p:cNvSpPr/>
          <p:nvPr/>
        </p:nvSpPr>
        <p:spPr>
          <a:xfrm>
            <a:off x="1032153" y="2434828"/>
            <a:ext cx="5797370" cy="501134"/>
          </a:xfrm>
          <a:prstGeom prst="rect">
            <a:avLst/>
          </a:prstGeom>
          <a:noFill/>
          <a:ln/>
        </p:spPr>
        <p:txBody>
          <a:bodyPr wrap="square" lIns="0" tIns="0" rIns="0" bIns="0" rtlCol="0" anchor="t"/>
          <a:lstStyle/>
          <a:p>
            <a:pPr>
              <a:lnSpc>
                <a:spcPts val="2400"/>
              </a:lnSpc>
            </a:pPr>
            <a:r>
              <a:rPr lang="en-US" sz="1600" dirty="0">
                <a:latin typeface="Times New Roman" panose="02020603050405020304" pitchFamily="18" charset="0"/>
                <a:cs typeface="Times New Roman" panose="02020603050405020304" pitchFamily="18" charset="0"/>
              </a:rPr>
              <a:t>The scope includes a dedicated portal for employers to create, publish, edit, and archive job listings with detailed descriptions, company branding, and specific qualification requirements.</a:t>
            </a:r>
            <a:endParaRPr lang="en-US" sz="1500" dirty="0">
              <a:latin typeface="Times New Roman" panose="02020603050405020304" pitchFamily="18" charset="0"/>
              <a:cs typeface="Times New Roman" panose="02020603050405020304" pitchFamily="18" charset="0"/>
            </a:endParaRPr>
          </a:p>
        </p:txBody>
      </p:sp>
      <p:sp>
        <p:nvSpPr>
          <p:cNvPr id="7" name="Shape 5"/>
          <p:cNvSpPr/>
          <p:nvPr/>
        </p:nvSpPr>
        <p:spPr>
          <a:xfrm>
            <a:off x="7411522" y="1902976"/>
            <a:ext cx="6425089" cy="1479828"/>
          </a:xfrm>
          <a:prstGeom prst="roundRect">
            <a:avLst>
              <a:gd name="adj" fmla="val 7415"/>
            </a:avLst>
          </a:prstGeom>
          <a:solidFill>
            <a:srgbClr val="FFFFFF"/>
          </a:solidFill>
          <a:ln w="22860">
            <a:solidFill>
              <a:srgbClr val="D8D4D4"/>
            </a:solidFill>
            <a:prstDash val="solid"/>
          </a:ln>
        </p:spPr>
      </p:sp>
      <p:sp>
        <p:nvSpPr>
          <p:cNvPr id="8" name="Shape 6"/>
          <p:cNvSpPr/>
          <p:nvPr/>
        </p:nvSpPr>
        <p:spPr>
          <a:xfrm>
            <a:off x="7388662" y="1902976"/>
            <a:ext cx="91440" cy="1479828"/>
          </a:xfrm>
          <a:prstGeom prst="roundRect">
            <a:avLst>
              <a:gd name="adj" fmla="val 31628"/>
            </a:avLst>
          </a:prstGeom>
          <a:solidFill>
            <a:srgbClr val="E04F00"/>
          </a:solidFill>
          <a:ln/>
        </p:spPr>
      </p:sp>
      <p:sp>
        <p:nvSpPr>
          <p:cNvPr id="9" name="Text 7"/>
          <p:cNvSpPr/>
          <p:nvPr/>
        </p:nvSpPr>
        <p:spPr>
          <a:xfrm>
            <a:off x="7695724" y="2118598"/>
            <a:ext cx="2530435" cy="316230"/>
          </a:xfrm>
          <a:prstGeom prst="rect">
            <a:avLst/>
          </a:prstGeom>
          <a:noFill/>
          <a:ln/>
        </p:spPr>
        <p:txBody>
          <a:bodyPr wrap="none" lIns="0" tIns="0" rIns="0" bIns="0" rtlCol="0" anchor="t"/>
          <a:lstStyle/>
          <a:p>
            <a:pPr>
              <a:lnSpc>
                <a:spcPts val="2450"/>
              </a:lnSpc>
            </a:pPr>
            <a:r>
              <a:rPr lang="en-IN" sz="2000" dirty="0">
                <a:latin typeface="Times New Roman" panose="02020603050405020304" pitchFamily="18" charset="0"/>
                <a:cs typeface="Times New Roman" panose="02020603050405020304" pitchFamily="18" charset="0"/>
              </a:rPr>
              <a:t>Applicant Tracking System (ATS):</a:t>
            </a:r>
            <a:endParaRPr lang="en-US" sz="1950" dirty="0">
              <a:latin typeface="Times New Roman" panose="02020603050405020304" pitchFamily="18" charset="0"/>
              <a:cs typeface="Times New Roman" panose="02020603050405020304" pitchFamily="18" charset="0"/>
            </a:endParaRPr>
          </a:p>
        </p:txBody>
      </p:sp>
      <p:sp>
        <p:nvSpPr>
          <p:cNvPr id="10" name="Text 8"/>
          <p:cNvSpPr/>
          <p:nvPr/>
        </p:nvSpPr>
        <p:spPr>
          <a:xfrm>
            <a:off x="7718584" y="2450410"/>
            <a:ext cx="6140887" cy="616744"/>
          </a:xfrm>
          <a:prstGeom prst="rect">
            <a:avLst/>
          </a:prstGeom>
          <a:noFill/>
          <a:ln/>
        </p:spPr>
        <p:txBody>
          <a:bodyPr wrap="square" lIns="0" tIns="0" rIns="0" bIns="0" rtlCol="0" anchor="t"/>
          <a:lstStyle/>
          <a:p>
            <a:pPr>
              <a:lnSpc>
                <a:spcPts val="2400"/>
              </a:lnSpc>
            </a:pPr>
            <a:r>
              <a:rPr lang="en-US" sz="1600" dirty="0">
                <a:latin typeface="Times New Roman" panose="02020603050405020304" pitchFamily="18" charset="0"/>
                <a:cs typeface="Times New Roman" panose="02020603050405020304" pitchFamily="18" charset="0"/>
              </a:rPr>
              <a:t>A central and critical component. This system must allow recruiters to </a:t>
            </a:r>
            <a:r>
              <a:rPr lang="en-US" sz="1600" b="1" dirty="0">
                <a:latin typeface="Times New Roman" panose="02020603050405020304" pitchFamily="18" charset="0"/>
                <a:cs typeface="Times New Roman" panose="02020603050405020304" pitchFamily="18" charset="0"/>
              </a:rPr>
              <a:t>screen, rank, and manage</a:t>
            </a:r>
            <a:r>
              <a:rPr lang="en-US" sz="1600" dirty="0">
                <a:latin typeface="Times New Roman" panose="02020603050405020304" pitchFamily="18" charset="0"/>
                <a:cs typeface="Times New Roman" panose="02020603050405020304" pitchFamily="18" charset="0"/>
              </a:rPr>
              <a:t> incoming applicants automatically, typically through keyword matching and qualification scoring.</a:t>
            </a:r>
            <a:endParaRPr lang="en-US" sz="1500" dirty="0">
              <a:latin typeface="Times New Roman" panose="02020603050405020304" pitchFamily="18" charset="0"/>
              <a:cs typeface="Times New Roman" panose="02020603050405020304" pitchFamily="18" charset="0"/>
            </a:endParaRPr>
          </a:p>
        </p:txBody>
      </p:sp>
      <p:sp>
        <p:nvSpPr>
          <p:cNvPr id="11" name="Shape 9"/>
          <p:cNvSpPr/>
          <p:nvPr/>
        </p:nvSpPr>
        <p:spPr>
          <a:xfrm>
            <a:off x="793790" y="3575566"/>
            <a:ext cx="6424970" cy="1788200"/>
          </a:xfrm>
          <a:prstGeom prst="roundRect">
            <a:avLst>
              <a:gd name="adj" fmla="val 6136"/>
            </a:avLst>
          </a:prstGeom>
          <a:solidFill>
            <a:srgbClr val="FFFFFF"/>
          </a:solidFill>
          <a:ln w="22860">
            <a:solidFill>
              <a:srgbClr val="D8D4D4"/>
            </a:solidFill>
            <a:prstDash val="solid"/>
          </a:ln>
        </p:spPr>
      </p:sp>
      <p:sp>
        <p:nvSpPr>
          <p:cNvPr id="12" name="Shape 10"/>
          <p:cNvSpPr/>
          <p:nvPr/>
        </p:nvSpPr>
        <p:spPr>
          <a:xfrm>
            <a:off x="770930" y="3575566"/>
            <a:ext cx="91440" cy="1788200"/>
          </a:xfrm>
          <a:prstGeom prst="roundRect">
            <a:avLst>
              <a:gd name="adj" fmla="val 31628"/>
            </a:avLst>
          </a:prstGeom>
          <a:solidFill>
            <a:srgbClr val="E04F00"/>
          </a:solidFill>
          <a:ln/>
        </p:spPr>
      </p:sp>
      <p:sp>
        <p:nvSpPr>
          <p:cNvPr id="13" name="Text 11"/>
          <p:cNvSpPr/>
          <p:nvPr/>
        </p:nvSpPr>
        <p:spPr>
          <a:xfrm>
            <a:off x="1077992" y="3791188"/>
            <a:ext cx="2694623" cy="316230"/>
          </a:xfrm>
          <a:prstGeom prst="rect">
            <a:avLst/>
          </a:prstGeom>
          <a:noFill/>
          <a:ln/>
        </p:spPr>
        <p:txBody>
          <a:bodyPr wrap="none" lIns="0" tIns="0" rIns="0" bIns="0" rtlCol="0" anchor="t"/>
          <a:lstStyle/>
          <a:p>
            <a:pPr>
              <a:lnSpc>
                <a:spcPts val="2450"/>
              </a:lnSpc>
            </a:pPr>
            <a:r>
              <a:rPr lang="en-IN" sz="2000" dirty="0">
                <a:latin typeface="Times New Roman" panose="02020603050405020304" pitchFamily="18" charset="0"/>
                <a:cs typeface="Times New Roman" panose="02020603050405020304" pitchFamily="18" charset="0"/>
              </a:rPr>
              <a:t>Communication &amp; Collaboration Tools: </a:t>
            </a:r>
            <a:endParaRPr lang="en-US" sz="1950" dirty="0">
              <a:latin typeface="Times New Roman" panose="02020603050405020304" pitchFamily="18" charset="0"/>
              <a:cs typeface="Times New Roman" panose="02020603050405020304" pitchFamily="18" charset="0"/>
            </a:endParaRPr>
          </a:p>
        </p:txBody>
      </p:sp>
      <p:sp>
        <p:nvSpPr>
          <p:cNvPr id="14" name="Text 12"/>
          <p:cNvSpPr/>
          <p:nvPr/>
        </p:nvSpPr>
        <p:spPr>
          <a:xfrm>
            <a:off x="1077992" y="4223028"/>
            <a:ext cx="5925145" cy="925116"/>
          </a:xfrm>
          <a:prstGeom prst="rect">
            <a:avLst/>
          </a:prstGeom>
          <a:noFill/>
          <a:ln/>
        </p:spPr>
        <p:txBody>
          <a:bodyPr wrap="square" lIns="0" tIns="0" rIns="0" bIns="0" rtlCol="0" anchor="t"/>
          <a:lstStyle/>
          <a:p>
            <a:pPr>
              <a:lnSpc>
                <a:spcPts val="2400"/>
              </a:lnSpc>
            </a:pPr>
            <a:r>
              <a:rPr lang="en-US" sz="1600" dirty="0">
                <a:latin typeface="Times New Roman" panose="02020603050405020304" pitchFamily="18" charset="0"/>
                <a:cs typeface="Times New Roman" panose="02020603050405020304" pitchFamily="18" charset="0"/>
              </a:rPr>
              <a:t>Features to facilitate internal team collaboration (sharing notes, ranking candidates) and external communication (sending automated or custom messages and scheduling interviews).</a:t>
            </a:r>
            <a:endParaRPr lang="en-US" sz="1500" dirty="0">
              <a:latin typeface="Times New Roman" panose="02020603050405020304" pitchFamily="18" charset="0"/>
              <a:cs typeface="Times New Roman" panose="02020603050405020304" pitchFamily="18" charset="0"/>
            </a:endParaRPr>
          </a:p>
        </p:txBody>
      </p:sp>
      <p:sp>
        <p:nvSpPr>
          <p:cNvPr id="15" name="Shape 13"/>
          <p:cNvSpPr/>
          <p:nvPr/>
        </p:nvSpPr>
        <p:spPr>
          <a:xfrm>
            <a:off x="7411522" y="3575566"/>
            <a:ext cx="6425089" cy="1788200"/>
          </a:xfrm>
          <a:prstGeom prst="roundRect">
            <a:avLst>
              <a:gd name="adj" fmla="val 6136"/>
            </a:avLst>
          </a:prstGeom>
          <a:solidFill>
            <a:srgbClr val="FFFFFF"/>
          </a:solidFill>
          <a:ln w="22860">
            <a:solidFill>
              <a:srgbClr val="D8D4D4"/>
            </a:solidFill>
            <a:prstDash val="solid"/>
          </a:ln>
        </p:spPr>
      </p:sp>
      <p:sp>
        <p:nvSpPr>
          <p:cNvPr id="16" name="Shape 14"/>
          <p:cNvSpPr/>
          <p:nvPr/>
        </p:nvSpPr>
        <p:spPr>
          <a:xfrm>
            <a:off x="7388662" y="3575566"/>
            <a:ext cx="91440" cy="1788200"/>
          </a:xfrm>
          <a:prstGeom prst="roundRect">
            <a:avLst>
              <a:gd name="adj" fmla="val 31628"/>
            </a:avLst>
          </a:prstGeom>
          <a:solidFill>
            <a:srgbClr val="E04F00"/>
          </a:solidFill>
          <a:ln/>
        </p:spPr>
      </p:sp>
      <p:sp>
        <p:nvSpPr>
          <p:cNvPr id="17" name="Text 15"/>
          <p:cNvSpPr/>
          <p:nvPr/>
        </p:nvSpPr>
        <p:spPr>
          <a:xfrm>
            <a:off x="7695724" y="3791188"/>
            <a:ext cx="3681651" cy="316230"/>
          </a:xfrm>
          <a:prstGeom prst="rect">
            <a:avLst/>
          </a:prstGeom>
          <a:noFill/>
          <a:ln/>
        </p:spPr>
        <p:txBody>
          <a:bodyPr wrap="none" lIns="0" tIns="0" rIns="0" bIns="0" rtlCol="0" anchor="t"/>
          <a:lstStyle/>
          <a:p>
            <a:pPr>
              <a:lnSpc>
                <a:spcPts val="2450"/>
              </a:lnSpc>
            </a:pPr>
            <a:r>
              <a:rPr lang="en-IN" sz="2000" dirty="0">
                <a:latin typeface="Times New Roman" panose="02020603050405020304" pitchFamily="18" charset="0"/>
                <a:cs typeface="Times New Roman" panose="02020603050405020304" pitchFamily="18" charset="0"/>
              </a:rPr>
              <a:t>Performance and Scalability</a:t>
            </a:r>
            <a:r>
              <a:rPr lang="en-IN" sz="2000" dirty="0"/>
              <a:t>:</a:t>
            </a:r>
            <a:endParaRPr lang="en-US" sz="1950" dirty="0"/>
          </a:p>
        </p:txBody>
      </p:sp>
      <p:sp>
        <p:nvSpPr>
          <p:cNvPr id="18" name="Text 16"/>
          <p:cNvSpPr/>
          <p:nvPr/>
        </p:nvSpPr>
        <p:spPr>
          <a:xfrm>
            <a:off x="7695724" y="4223028"/>
            <a:ext cx="5925264" cy="616744"/>
          </a:xfrm>
          <a:prstGeom prst="rect">
            <a:avLst/>
          </a:prstGeom>
          <a:noFill/>
          <a:ln/>
        </p:spPr>
        <p:txBody>
          <a:bodyPr wrap="square" lIns="0" tIns="0" rIns="0" bIns="0" rtlCol="0" anchor="t"/>
          <a:lstStyle/>
          <a:p>
            <a:pPr>
              <a:lnSpc>
                <a:spcPts val="2400"/>
              </a:lnSpc>
            </a:pPr>
            <a:r>
              <a:rPr lang="en-US" sz="1600" dirty="0"/>
              <a:t>The system must be built to handle millions of search queries and simultaneous users without degradation in performance, especially during peak hiring cycles.</a:t>
            </a:r>
            <a:endParaRPr lang="en-US" sz="1500" dirty="0"/>
          </a:p>
        </p:txBody>
      </p:sp>
      <p:sp>
        <p:nvSpPr>
          <p:cNvPr id="19" name="Shape 17"/>
          <p:cNvSpPr/>
          <p:nvPr/>
        </p:nvSpPr>
        <p:spPr>
          <a:xfrm>
            <a:off x="793790" y="5556528"/>
            <a:ext cx="6424970" cy="1788200"/>
          </a:xfrm>
          <a:prstGeom prst="roundRect">
            <a:avLst>
              <a:gd name="adj" fmla="val 6136"/>
            </a:avLst>
          </a:prstGeom>
          <a:solidFill>
            <a:srgbClr val="FFFFFF"/>
          </a:solidFill>
          <a:ln w="22860">
            <a:solidFill>
              <a:srgbClr val="D8D4D4"/>
            </a:solidFill>
            <a:prstDash val="solid"/>
          </a:ln>
        </p:spPr>
      </p:sp>
      <p:sp>
        <p:nvSpPr>
          <p:cNvPr id="20" name="Shape 18"/>
          <p:cNvSpPr/>
          <p:nvPr/>
        </p:nvSpPr>
        <p:spPr>
          <a:xfrm>
            <a:off x="770930" y="5556528"/>
            <a:ext cx="91440" cy="1788200"/>
          </a:xfrm>
          <a:prstGeom prst="roundRect">
            <a:avLst>
              <a:gd name="adj" fmla="val 31628"/>
            </a:avLst>
          </a:prstGeom>
          <a:solidFill>
            <a:srgbClr val="E04F00"/>
          </a:solidFill>
          <a:ln/>
        </p:spPr>
      </p:sp>
      <p:sp>
        <p:nvSpPr>
          <p:cNvPr id="21" name="Text 19"/>
          <p:cNvSpPr/>
          <p:nvPr/>
        </p:nvSpPr>
        <p:spPr>
          <a:xfrm>
            <a:off x="1077992" y="5772150"/>
            <a:ext cx="3750588" cy="316230"/>
          </a:xfrm>
          <a:prstGeom prst="rect">
            <a:avLst/>
          </a:prstGeom>
          <a:noFill/>
          <a:ln/>
        </p:spPr>
        <p:txBody>
          <a:bodyPr wrap="none" lIns="0" tIns="0" rIns="0" bIns="0" rtlCol="0" anchor="t"/>
          <a:lstStyle/>
          <a:p>
            <a:pPr>
              <a:lnSpc>
                <a:spcPts val="2450"/>
              </a:lnSpc>
            </a:pPr>
            <a:r>
              <a:rPr lang="en-IN" sz="2000" dirty="0">
                <a:latin typeface="Times New Roman" panose="02020603050405020304" pitchFamily="18" charset="0"/>
                <a:cs typeface="Times New Roman" panose="02020603050405020304" pitchFamily="18" charset="0"/>
              </a:rPr>
              <a:t>Target Audience and Niche:</a:t>
            </a:r>
            <a:endParaRPr lang="en-US" sz="1950" dirty="0">
              <a:latin typeface="Times New Roman" panose="02020603050405020304" pitchFamily="18" charset="0"/>
              <a:cs typeface="Times New Roman" panose="02020603050405020304" pitchFamily="18" charset="0"/>
            </a:endParaRPr>
          </a:p>
        </p:txBody>
      </p:sp>
      <p:sp>
        <p:nvSpPr>
          <p:cNvPr id="22" name="Text 20"/>
          <p:cNvSpPr/>
          <p:nvPr/>
        </p:nvSpPr>
        <p:spPr>
          <a:xfrm>
            <a:off x="1077992" y="6203990"/>
            <a:ext cx="5925145" cy="616744"/>
          </a:xfrm>
          <a:prstGeom prst="rect">
            <a:avLst/>
          </a:prstGeom>
          <a:noFill/>
          <a:ln/>
        </p:spPr>
        <p:txBody>
          <a:bodyPr wrap="square" lIns="0" tIns="0" rIns="0" bIns="0" rtlCol="0" anchor="t"/>
          <a:lstStyle/>
          <a:p>
            <a:pPr>
              <a:lnSpc>
                <a:spcPts val="2400"/>
              </a:lnSpc>
            </a:pPr>
            <a:r>
              <a:rPr lang="en-US" sz="1600" dirty="0">
                <a:latin typeface="Times New Roman" panose="02020603050405020304" pitchFamily="18" charset="0"/>
                <a:cs typeface="Times New Roman" panose="02020603050405020304" pitchFamily="18" charset="0"/>
              </a:rPr>
              <a:t>We could look at specializing the site. Should it be a broad platform like LinkedIn, or a niche site focusing only on, say, </a:t>
            </a:r>
            <a:r>
              <a:rPr lang="en-US" sz="1600" b="1" dirty="0">
                <a:latin typeface="Times New Roman" panose="02020603050405020304" pitchFamily="18" charset="0"/>
                <a:cs typeface="Times New Roman" panose="02020603050405020304" pitchFamily="18" charset="0"/>
              </a:rPr>
              <a:t>remote tech jobs</a:t>
            </a:r>
            <a:r>
              <a:rPr lang="en-US" sz="1600" dirty="0">
                <a:latin typeface="Times New Roman" panose="02020603050405020304" pitchFamily="18" charset="0"/>
                <a:cs typeface="Times New Roman" panose="02020603050405020304" pitchFamily="18" charset="0"/>
              </a:rPr>
              <a:t> or </a:t>
            </a:r>
            <a:r>
              <a:rPr lang="en-US" sz="1600" b="1" dirty="0">
                <a:latin typeface="Times New Roman" panose="02020603050405020304" pitchFamily="18" charset="0"/>
                <a:cs typeface="Times New Roman" panose="02020603050405020304" pitchFamily="18" charset="0"/>
              </a:rPr>
              <a:t>healthcare roles</a:t>
            </a:r>
            <a:r>
              <a:rPr lang="en-US" sz="1600" dirty="0">
                <a:latin typeface="Times New Roman" panose="02020603050405020304" pitchFamily="18" charset="0"/>
                <a:cs typeface="Times New Roman" panose="02020603050405020304" pitchFamily="18" charset="0"/>
              </a:rPr>
              <a:t>?</a:t>
            </a:r>
            <a:endParaRPr lang="en-US" sz="1500" dirty="0">
              <a:latin typeface="Times New Roman" panose="02020603050405020304" pitchFamily="18" charset="0"/>
              <a:cs typeface="Times New Roman" panose="02020603050405020304" pitchFamily="18" charset="0"/>
            </a:endParaRPr>
          </a:p>
        </p:txBody>
      </p:sp>
      <p:sp>
        <p:nvSpPr>
          <p:cNvPr id="23" name="Shape 21"/>
          <p:cNvSpPr/>
          <p:nvPr/>
        </p:nvSpPr>
        <p:spPr>
          <a:xfrm>
            <a:off x="7411522" y="5556528"/>
            <a:ext cx="6425089" cy="1788200"/>
          </a:xfrm>
          <a:prstGeom prst="roundRect">
            <a:avLst>
              <a:gd name="adj" fmla="val 6136"/>
            </a:avLst>
          </a:prstGeom>
          <a:solidFill>
            <a:srgbClr val="FFFFFF"/>
          </a:solidFill>
          <a:ln w="22860">
            <a:solidFill>
              <a:srgbClr val="D8D4D4"/>
            </a:solidFill>
            <a:prstDash val="solid"/>
          </a:ln>
        </p:spPr>
      </p:sp>
      <p:sp>
        <p:nvSpPr>
          <p:cNvPr id="24" name="Shape 22"/>
          <p:cNvSpPr/>
          <p:nvPr/>
        </p:nvSpPr>
        <p:spPr>
          <a:xfrm>
            <a:off x="7388662" y="5556528"/>
            <a:ext cx="91440" cy="1788200"/>
          </a:xfrm>
          <a:prstGeom prst="roundRect">
            <a:avLst>
              <a:gd name="adj" fmla="val 31628"/>
            </a:avLst>
          </a:prstGeom>
          <a:solidFill>
            <a:srgbClr val="E04F00"/>
          </a:solidFill>
          <a:ln/>
        </p:spPr>
      </p:sp>
      <p:sp>
        <p:nvSpPr>
          <p:cNvPr id="25" name="Text 23"/>
          <p:cNvSpPr/>
          <p:nvPr/>
        </p:nvSpPr>
        <p:spPr>
          <a:xfrm>
            <a:off x="7695724" y="5772150"/>
            <a:ext cx="2530435" cy="316230"/>
          </a:xfrm>
          <a:prstGeom prst="rect">
            <a:avLst/>
          </a:prstGeom>
          <a:noFill/>
          <a:ln/>
        </p:spPr>
        <p:txBody>
          <a:bodyPr wrap="none" lIns="0" tIns="0" rIns="0" bIns="0" rtlCol="0" anchor="t"/>
          <a:lstStyle/>
          <a:p>
            <a:pPr>
              <a:lnSpc>
                <a:spcPts val="2450"/>
              </a:lnSpc>
            </a:pPr>
            <a:r>
              <a:rPr lang="en-IN" sz="2000" dirty="0">
                <a:latin typeface="Times New Roman" panose="02020603050405020304" pitchFamily="18" charset="0"/>
                <a:cs typeface="Times New Roman" panose="02020603050405020304" pitchFamily="18" charset="0"/>
              </a:rPr>
              <a:t>Job Posting &amp; Management</a:t>
            </a:r>
            <a:endParaRPr lang="en-US" sz="1950" dirty="0">
              <a:latin typeface="Times New Roman" panose="02020603050405020304" pitchFamily="18" charset="0"/>
              <a:cs typeface="Times New Roman" panose="02020603050405020304" pitchFamily="18" charset="0"/>
            </a:endParaRPr>
          </a:p>
        </p:txBody>
      </p:sp>
      <p:sp>
        <p:nvSpPr>
          <p:cNvPr id="26" name="Text 24"/>
          <p:cNvSpPr/>
          <p:nvPr/>
        </p:nvSpPr>
        <p:spPr>
          <a:xfrm>
            <a:off x="7695724" y="6203990"/>
            <a:ext cx="5925264" cy="925116"/>
          </a:xfrm>
          <a:prstGeom prst="rect">
            <a:avLst/>
          </a:prstGeom>
          <a:noFill/>
          <a:ln/>
        </p:spPr>
        <p:txBody>
          <a:bodyPr wrap="square" lIns="0" tIns="0" rIns="0" bIns="0" rtlCol="0" anchor="t"/>
          <a:lstStyle/>
          <a:p>
            <a:pPr>
              <a:lnSpc>
                <a:spcPts val="2400"/>
              </a:lnSpc>
            </a:pPr>
            <a:r>
              <a:rPr lang="en-US" sz="1600" dirty="0">
                <a:latin typeface="Times New Roman" panose="02020603050405020304" pitchFamily="18" charset="0"/>
                <a:cs typeface="Times New Roman" panose="02020603050405020304" pitchFamily="18" charset="0"/>
              </a:rPr>
              <a:t>Employers can post new job openings, edit job details, view applications, and manage the recruitment process.</a:t>
            </a:r>
            <a:endParaRPr lang="en-US" sz="1500" dirty="0">
              <a:latin typeface="Times New Roman" panose="02020603050405020304" pitchFamily="18" charset="0"/>
              <a:cs typeface="Times New Roman" panose="02020603050405020304" pitchFamily="18" charset="0"/>
            </a:endParaRPr>
          </a:p>
        </p:txBody>
      </p:sp>
      <p:sp>
        <p:nvSpPr>
          <p:cNvPr id="27" name="Rectangle 26">
            <a:extLst>
              <a:ext uri="{FF2B5EF4-FFF2-40B4-BE49-F238E27FC236}">
                <a16:creationId xmlns:a16="http://schemas.microsoft.com/office/drawing/2014/main" id="{4D92D4FF-49DE-9621-1CEE-512EDCEDBDAC}"/>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509468" y="7597735"/>
            <a:ext cx="13611463" cy="232886"/>
          </a:xfrm>
          <a:prstGeom prst="rect">
            <a:avLst/>
          </a:prstGeom>
          <a:noFill/>
          <a:ln/>
        </p:spPr>
        <p:txBody>
          <a:bodyPr wrap="none" lIns="0" tIns="0" rIns="0" bIns="0" rtlCol="0" anchor="t"/>
          <a:lstStyle/>
          <a:p>
            <a:r>
              <a:t>System Architecture</a:t>
            </a:r>
          </a:p>
          <a:p/>
          <a:p>
            <a:r>
              <a:t>User Request</a:t>
            </a:r>
          </a:p>
          <a:p>
            <a:r>
              <a:t>     ↓</a:t>
            </a:r>
          </a:p>
          <a:p>
            <a:r>
              <a:t>ThreatShield Interface</a:t>
            </a:r>
          </a:p>
          <a:p>
            <a:r>
              <a:t>     ↓</a:t>
            </a:r>
          </a:p>
          <a:p>
            <a:r>
              <a:t>Preprocessing &amp; Feature Extraction</a:t>
            </a:r>
          </a:p>
          <a:p>
            <a:r>
              <a:t>     ↓</a:t>
            </a:r>
          </a:p>
          <a:p>
            <a:r>
              <a:t>Deep Learning Model</a:t>
            </a:r>
          </a:p>
          <a:p>
            <a:r>
              <a:t>     ↓</a:t>
            </a:r>
          </a:p>
          <a:p>
            <a:r>
              <a:t>Attack Classification</a:t>
            </a:r>
          </a:p>
          <a:p>
            <a:r>
              <a:t>     ↓</a:t>
            </a:r>
          </a:p>
          <a:p>
            <a:r>
              <a:t>Security Response</a:t>
            </a:r>
          </a:p>
          <a:p/>
        </p:txBody>
      </p:sp>
      <p:pic>
        <p:nvPicPr>
          <p:cNvPr id="4" name="Picture 3">
            <a:extLst>
              <a:ext uri="{FF2B5EF4-FFF2-40B4-BE49-F238E27FC236}">
                <a16:creationId xmlns:a16="http://schemas.microsoft.com/office/drawing/2014/main" id="{0C6F9A8A-DE61-6484-8284-E1EF209E8569}"/>
              </a:ext>
            </a:extLst>
          </p:cNvPr>
          <p:cNvPicPr>
            <a:picLocks noChangeAspect="1"/>
          </p:cNvPicPr>
          <p:nvPr/>
        </p:nvPicPr>
        <p:blipFill rotWithShape="1">
          <a:blip r:embed="rId3">
            <a:extLst>
              <a:ext uri="{28A0092B-C50C-407E-A947-70E740481C1C}">
                <a14:useLocalDpi xmlns:a14="http://schemas.microsoft.com/office/drawing/2010/main" val="0"/>
              </a:ext>
            </a:extLst>
          </a:blip>
          <a:srcRect l="4825" t="3637" r="3614" b="6331"/>
          <a:stretch>
            <a:fillRect/>
          </a:stretch>
        </p:blipFill>
        <p:spPr bwMode="auto">
          <a:xfrm>
            <a:off x="1618717" y="985520"/>
            <a:ext cx="11392961" cy="6612215"/>
          </a:xfrm>
          <a:prstGeom prst="rect">
            <a:avLst/>
          </a:prstGeom>
          <a:noFill/>
          <a:ln>
            <a:noFill/>
          </a:ln>
          <a:extLst>
            <a:ext uri="{53640926-AAD7-44D8-BBD7-CCE9431645EC}">
              <a14:shadowObscured xmlns:a14="http://schemas.microsoft.com/office/drawing/2010/main"/>
            </a:ext>
          </a:extLst>
        </p:spPr>
      </p:pic>
      <p:sp>
        <p:nvSpPr>
          <p:cNvPr id="6" name="TextBox 5">
            <a:extLst>
              <a:ext uri="{FF2B5EF4-FFF2-40B4-BE49-F238E27FC236}">
                <a16:creationId xmlns:a16="http://schemas.microsoft.com/office/drawing/2014/main" id="{1623C6D7-B526-E26F-060E-BA80A6BA6CAB}"/>
              </a:ext>
            </a:extLst>
          </p:cNvPr>
          <p:cNvSpPr txBox="1"/>
          <p:nvPr/>
        </p:nvSpPr>
        <p:spPr>
          <a:xfrm>
            <a:off x="4678678" y="288900"/>
            <a:ext cx="5273041" cy="677108"/>
          </a:xfrm>
          <a:prstGeom prst="rect">
            <a:avLst/>
          </a:prstGeom>
          <a:noFill/>
        </p:spPr>
        <p:txBody>
          <a:bodyPr wrap="square">
            <a:spAutoFit/>
          </a:bodyPr>
          <a:lstStyle/>
          <a:p>
            <a:pPr algn="ctr"/>
            <a:r>
              <a:rPr lang="en-US" sz="3800" dirty="0">
                <a:solidFill>
                  <a:srgbClr val="020202"/>
                </a:solidFill>
                <a:latin typeface="PT Serif" pitchFamily="34" charset="0"/>
                <a:ea typeface="PT Serif" pitchFamily="34" charset="-122"/>
                <a:cs typeface="PT Serif" pitchFamily="34" charset="-120"/>
              </a:rPr>
              <a:t>System Architecture </a:t>
            </a:r>
            <a:endParaRPr lang="en-IN" sz="3800" dirty="0"/>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0117" y="1409531"/>
            <a:ext cx="10350160" cy="5764194"/>
          </a:xfrm>
          <a:prstGeom prst="rect">
            <a:avLst/>
          </a:prstGeom>
        </p:spPr>
      </p:pic>
      <p:sp>
        <p:nvSpPr>
          <p:cNvPr id="5" name="Rectangle 4">
            <a:extLst>
              <a:ext uri="{FF2B5EF4-FFF2-40B4-BE49-F238E27FC236}">
                <a16:creationId xmlns:a16="http://schemas.microsoft.com/office/drawing/2014/main" id="{4B92C6CA-878B-C677-AB43-B924CC22D1B9}"/>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nvSpPr>
        <p:spPr>
          <a:xfrm>
            <a:off x="1063605" y="2093000"/>
            <a:ext cx="13058775" cy="5423456"/>
          </a:xfrm>
          <a:prstGeom prst="rect">
            <a:avLst/>
          </a:prstGeom>
          <a:noFill/>
          <a:ln/>
        </p:spPr>
        <p:txBody>
          <a:bodyPr wrap="square" lIns="0" tIns="0" rIns="0" bIns="0" rtlCol="0" anchor="t"/>
          <a:lstStyle/>
          <a:p>
            <a:r>
              <a:t>Technologies Used</a:t>
            </a:r>
          </a:p>
          <a:p/>
          <a:p>
            <a:r>
              <a:t>Python</a:t>
            </a:r>
          </a:p>
          <a:p>
            <a:r>
              <a:t>TensorFlow / Keras</a:t>
            </a:r>
          </a:p>
          <a:p>
            <a:r>
              <a:t>Streamlit</a:t>
            </a:r>
          </a:p>
          <a:p>
            <a:r>
              <a:t>Machine Learning</a:t>
            </a:r>
          </a:p>
          <a:p>
            <a:r>
              <a:t>Cybersecurity Concepts</a:t>
            </a:r>
          </a:p>
          <a:p/>
          <a:p>
            <a:r>
              <a:t>The deep learning model is trained on web attack datasets and integrated </a:t>
            </a:r>
          </a:p>
          <a:p>
            <a:r>
              <a:t>into a Streamlit based dashboard for user interaction.</a:t>
            </a:r>
          </a:p>
          <a:p/>
        </p:txBody>
      </p:sp>
      <p:sp>
        <p:nvSpPr>
          <p:cNvPr id="4" name="Rectangle 3"/>
          <p:cNvSpPr/>
          <p:nvPr/>
        </p:nvSpPr>
        <p:spPr>
          <a:xfrm>
            <a:off x="972273" y="2314307"/>
            <a:ext cx="7106856" cy="2246769"/>
          </a:xfrm>
          <a:prstGeom prst="rect">
            <a:avLst/>
          </a:prstGeom>
        </p:spPr>
        <p:txBody>
          <a:bodyPr wrap="square">
            <a:spAutoFit/>
          </a:bodyPr>
          <a:lstStyle/>
          <a:p>
            <a:r>
              <a:rPr lang="en-US" sz="2000" dirty="0"/>
              <a:t>Frontend: HTML, Tailwind CSS, React</a:t>
            </a:r>
          </a:p>
          <a:p>
            <a:endParaRPr lang="en-US" sz="2000" dirty="0"/>
          </a:p>
          <a:p>
            <a:r>
              <a:rPr lang="en-US" sz="2000" dirty="0"/>
              <a:t>Backend: Node.js / Express</a:t>
            </a:r>
          </a:p>
          <a:p>
            <a:endParaRPr lang="en-US" sz="2000" dirty="0"/>
          </a:p>
          <a:p>
            <a:r>
              <a:rPr lang="en-US" sz="2000" dirty="0"/>
              <a:t>Database: MongoDB</a:t>
            </a:r>
          </a:p>
          <a:p>
            <a:endParaRPr lang="en-US" sz="2000" dirty="0"/>
          </a:p>
          <a:p>
            <a:r>
              <a:rPr lang="en-US" sz="2000" dirty="0"/>
              <a:t>Includes job posting, applications, tracking, and admin dashboards.</a:t>
            </a:r>
          </a:p>
        </p:txBody>
      </p:sp>
      <p:sp>
        <p:nvSpPr>
          <p:cNvPr id="5" name="Rectangle 4">
            <a:extLst>
              <a:ext uri="{FF2B5EF4-FFF2-40B4-BE49-F238E27FC236}">
                <a16:creationId xmlns:a16="http://schemas.microsoft.com/office/drawing/2014/main" id="{D369FCF4-9134-891F-F39D-7FB7683CA04B}"/>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6" name="TextBox 5">
            <a:extLst>
              <a:ext uri="{FF2B5EF4-FFF2-40B4-BE49-F238E27FC236}">
                <a16:creationId xmlns:a16="http://schemas.microsoft.com/office/drawing/2014/main" id="{4C6F70BD-8FBA-1510-50C4-D52B906B54BB}"/>
              </a:ext>
            </a:extLst>
          </p:cNvPr>
          <p:cNvSpPr txBox="1"/>
          <p:nvPr/>
        </p:nvSpPr>
        <p:spPr>
          <a:xfrm>
            <a:off x="4678678" y="374590"/>
            <a:ext cx="5273041" cy="677108"/>
          </a:xfrm>
          <a:prstGeom prst="rect">
            <a:avLst/>
          </a:prstGeom>
          <a:noFill/>
        </p:spPr>
        <p:txBody>
          <a:bodyPr wrap="square">
            <a:spAutoFit/>
          </a:bodyPr>
          <a:lstStyle/>
          <a:p>
            <a:pPr algn="ctr"/>
            <a:r>
              <a:rPr lang="en-US" sz="3800" dirty="0">
                <a:solidFill>
                  <a:srgbClr val="020202"/>
                </a:solidFill>
                <a:latin typeface="PT Serif" pitchFamily="34" charset="0"/>
                <a:ea typeface="PT Serif" pitchFamily="34" charset="-122"/>
                <a:cs typeface="PT Serif" pitchFamily="34" charset="-120"/>
              </a:rPr>
              <a:t>Proposed Architecture</a:t>
            </a:r>
            <a:endParaRPr lang="en-IN" sz="3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3BF0EE-687D-4B8C-9B33-1B116AC05121}"/>
              </a:ext>
            </a:extLst>
          </p:cNvPr>
          <p:cNvSpPr>
            <a:spLocks noChangeArrowheads="1"/>
          </p:cNvSpPr>
          <p:nvPr/>
        </p:nvSpPr>
        <p:spPr bwMode="auto">
          <a:xfrm>
            <a:off x="758283" y="2393708"/>
            <a:ext cx="1277183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t>Proposed Architecture</a:t>
            </a:r>
          </a:p>
          <a:p/>
          <a:p>
            <a:r>
              <a:t>Users submit HTTP requests through the ThreatShield interface.</a:t>
            </a:r>
          </a:p>
          <a:p/>
          <a:p>
            <a:r>
              <a:t>The system preprocesses the input and converts it into numerical features </a:t>
            </a:r>
          </a:p>
          <a:p>
            <a:r>
              <a:t>for analysis by the deep learning model.</a:t>
            </a:r>
          </a:p>
          <a:p/>
          <a:p>
            <a:r>
              <a:t>The model predicts whether the request is normal or malicious and </a:t>
            </a:r>
          </a:p>
          <a:p>
            <a:r>
              <a:t>classifies the attack type. The result is displayed along with </a:t>
            </a:r>
          </a:p>
          <a:p>
            <a:r>
              <a:t>a confidence score and recommended security response.</a:t>
            </a:r>
          </a:p>
          <a:p/>
        </p:txBody>
      </p:sp>
      <p:sp>
        <p:nvSpPr>
          <p:cNvPr id="5" name="TextBox 4">
            <a:extLst>
              <a:ext uri="{FF2B5EF4-FFF2-40B4-BE49-F238E27FC236}">
                <a16:creationId xmlns:a16="http://schemas.microsoft.com/office/drawing/2014/main" id="{83BD81B4-ED83-F1CE-225E-BBE7B61C2D84}"/>
              </a:ext>
            </a:extLst>
          </p:cNvPr>
          <p:cNvSpPr txBox="1"/>
          <p:nvPr/>
        </p:nvSpPr>
        <p:spPr>
          <a:xfrm>
            <a:off x="4678678" y="463799"/>
            <a:ext cx="5273041" cy="677108"/>
          </a:xfrm>
          <a:prstGeom prst="rect">
            <a:avLst/>
          </a:prstGeom>
          <a:noFill/>
        </p:spPr>
        <p:txBody>
          <a:bodyPr wrap="square">
            <a:spAutoFit/>
          </a:bodyPr>
          <a:lstStyle/>
          <a:p>
            <a:pPr algn="ctr"/>
            <a:r>
              <a:rPr lang="en-US" sz="3800" dirty="0">
                <a:solidFill>
                  <a:srgbClr val="020202"/>
                </a:solidFill>
                <a:latin typeface="PT Serif" pitchFamily="34" charset="0"/>
                <a:ea typeface="PT Serif" pitchFamily="34" charset="-122"/>
                <a:cs typeface="PT Serif" pitchFamily="34" charset="-120"/>
              </a:rPr>
              <a:t>Methodology</a:t>
            </a:r>
            <a:endParaRPr lang="en-IN" sz="3800" dirty="0"/>
          </a:p>
        </p:txBody>
      </p:sp>
    </p:spTree>
    <p:extLst>
      <p:ext uri="{BB962C8B-B14F-4D97-AF65-F5344CB8AC3E}">
        <p14:creationId xmlns:p14="http://schemas.microsoft.com/office/powerpoint/2010/main" val="15145537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27243" y="634919"/>
            <a:ext cx="13042821"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3" name="Rectangle 2">
            <a:extLst>
              <a:ext uri="{FF2B5EF4-FFF2-40B4-BE49-F238E27FC236}">
                <a16:creationId xmlns:a16="http://schemas.microsoft.com/office/drawing/2014/main" id="{A7A87047-B621-B68C-290D-BC716B3D5D96}"/>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7" name="TextBox 6">
            <a:extLst>
              <a:ext uri="{FF2B5EF4-FFF2-40B4-BE49-F238E27FC236}">
                <a16:creationId xmlns:a16="http://schemas.microsoft.com/office/drawing/2014/main" id="{2FB06435-A0CC-14C6-5C9E-BD98BDD85DA3}"/>
              </a:ext>
            </a:extLst>
          </p:cNvPr>
          <p:cNvSpPr txBox="1"/>
          <p:nvPr/>
        </p:nvSpPr>
        <p:spPr>
          <a:xfrm>
            <a:off x="4712132" y="254202"/>
            <a:ext cx="5273041" cy="677108"/>
          </a:xfrm>
          <a:prstGeom prst="rect">
            <a:avLst/>
          </a:prstGeom>
          <a:noFill/>
        </p:spPr>
        <p:txBody>
          <a:bodyPr wrap="square">
            <a:spAutoFit/>
          </a:bodyPr>
          <a:lstStyle/>
          <a:p>
            <a:pPr algn="ctr"/>
            <a:r>
              <a:rPr lang="en-US" sz="3800" dirty="0">
                <a:solidFill>
                  <a:srgbClr val="020202"/>
                </a:solidFill>
                <a:latin typeface="PT Serif" pitchFamily="34" charset="0"/>
                <a:ea typeface="PT Serif" pitchFamily="34" charset="-122"/>
                <a:cs typeface="PT Serif" pitchFamily="34" charset="-120"/>
              </a:rPr>
              <a:t>Outcomes</a:t>
            </a:r>
            <a:endParaRPr lang="en-IN" sz="3800" dirty="0"/>
          </a:p>
        </p:txBody>
      </p:sp>
      <p:pic>
        <p:nvPicPr>
          <p:cNvPr id="4" name="Picture 3">
            <a:extLst>
              <a:ext uri="{FF2B5EF4-FFF2-40B4-BE49-F238E27FC236}">
                <a16:creationId xmlns:a16="http://schemas.microsoft.com/office/drawing/2014/main" id="{A357CFB6-549B-0399-2270-D523DA6732F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92409" y="1002315"/>
            <a:ext cx="11539512" cy="612331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93790" y="3933349"/>
            <a:ext cx="2165747"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3" name="Text 1"/>
          <p:cNvSpPr/>
          <p:nvPr/>
        </p:nvSpPr>
        <p:spPr>
          <a:xfrm>
            <a:off x="3520559" y="3933349"/>
            <a:ext cx="10323552"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Rectangle 5">
            <a:extLst>
              <a:ext uri="{FF2B5EF4-FFF2-40B4-BE49-F238E27FC236}">
                <a16:creationId xmlns:a16="http://schemas.microsoft.com/office/drawing/2014/main" id="{BB4D9A42-08F8-1F13-481A-E7B00962E330}"/>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pic>
        <p:nvPicPr>
          <p:cNvPr id="8" name="Picture 7">
            <a:extLst>
              <a:ext uri="{FF2B5EF4-FFF2-40B4-BE49-F238E27FC236}">
                <a16:creationId xmlns:a16="http://schemas.microsoft.com/office/drawing/2014/main" id="{EB5D387A-A4A1-2C07-69A0-BC3ACD5E51C2}"/>
              </a:ext>
            </a:extLst>
          </p:cNvPr>
          <p:cNvPicPr>
            <a:picLocks noChangeAspect="1"/>
          </p:cNvPicPr>
          <p:nvPr/>
        </p:nvPicPr>
        <p:blipFill>
          <a:blip r:embed="rId3"/>
          <a:stretch>
            <a:fillRect/>
          </a:stretch>
        </p:blipFill>
        <p:spPr>
          <a:xfrm>
            <a:off x="1876663" y="1390448"/>
            <a:ext cx="10971125" cy="5811607"/>
          </a:xfrm>
          <a:prstGeom prst="rect">
            <a:avLst/>
          </a:prstGeom>
        </p:spPr>
      </p:pic>
      <p:sp>
        <p:nvSpPr>
          <p:cNvPr id="11" name="TextBox 10">
            <a:extLst>
              <a:ext uri="{FF2B5EF4-FFF2-40B4-BE49-F238E27FC236}">
                <a16:creationId xmlns:a16="http://schemas.microsoft.com/office/drawing/2014/main" id="{79D241E9-4B1D-DD9B-86ED-B0AA3BB2EBC7}"/>
              </a:ext>
            </a:extLst>
          </p:cNvPr>
          <p:cNvSpPr txBox="1"/>
          <p:nvPr/>
        </p:nvSpPr>
        <p:spPr>
          <a:xfrm>
            <a:off x="4678679" y="350437"/>
            <a:ext cx="5273041" cy="677108"/>
          </a:xfrm>
          <a:prstGeom prst="rect">
            <a:avLst/>
          </a:prstGeom>
          <a:noFill/>
        </p:spPr>
        <p:txBody>
          <a:bodyPr wrap="square">
            <a:spAutoFit/>
          </a:bodyPr>
          <a:lstStyle/>
          <a:p>
            <a:pPr algn="ctr"/>
            <a:r>
              <a:rPr lang="en-US" sz="3800" dirty="0">
                <a:solidFill>
                  <a:srgbClr val="020202"/>
                </a:solidFill>
                <a:latin typeface="PT Serif" pitchFamily="34" charset="0"/>
                <a:ea typeface="PT Serif" pitchFamily="34" charset="-122"/>
                <a:cs typeface="PT Serif" pitchFamily="34" charset="-120"/>
              </a:rPr>
              <a:t>Posting Job</a:t>
            </a:r>
            <a:endParaRPr lang="en-IN" sz="3800" dirty="0"/>
          </a:p>
        </p:txBody>
      </p:sp>
      <p:pic>
        <p:nvPicPr>
          <p:cNvPr id="4" name="Picture 3">
            <a:extLst>
              <a:ext uri="{FF2B5EF4-FFF2-40B4-BE49-F238E27FC236}">
                <a16:creationId xmlns:a16="http://schemas.microsoft.com/office/drawing/2014/main" id="{D69726D4-2648-60EE-55CD-A9F650922D3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82612" y="1431484"/>
            <a:ext cx="11065176" cy="588603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37438-506F-450A-8A4F-A7E0BBE1EE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5698009-48AC-484B-17BD-F00BA4F4016F}"/>
              </a:ext>
            </a:extLst>
          </p:cNvPr>
          <p:cNvSpPr/>
          <p:nvPr/>
        </p:nvSpPr>
        <p:spPr>
          <a:xfrm>
            <a:off x="793790" y="3933349"/>
            <a:ext cx="2165747"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3" name="Text 1">
            <a:extLst>
              <a:ext uri="{FF2B5EF4-FFF2-40B4-BE49-F238E27FC236}">
                <a16:creationId xmlns:a16="http://schemas.microsoft.com/office/drawing/2014/main" id="{E4F79E94-EF09-E9B8-E05F-8202C03DCF67}"/>
              </a:ext>
            </a:extLst>
          </p:cNvPr>
          <p:cNvSpPr/>
          <p:nvPr/>
        </p:nvSpPr>
        <p:spPr>
          <a:xfrm>
            <a:off x="3520559" y="3933349"/>
            <a:ext cx="10323552"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Rectangle 5">
            <a:extLst>
              <a:ext uri="{FF2B5EF4-FFF2-40B4-BE49-F238E27FC236}">
                <a16:creationId xmlns:a16="http://schemas.microsoft.com/office/drawing/2014/main" id="{963BE421-A656-4F56-4E8E-6DD157EFB266}"/>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pic>
        <p:nvPicPr>
          <p:cNvPr id="8" name="Picture 7">
            <a:extLst>
              <a:ext uri="{FF2B5EF4-FFF2-40B4-BE49-F238E27FC236}">
                <a16:creationId xmlns:a16="http://schemas.microsoft.com/office/drawing/2014/main" id="{FBAD462E-E3DD-943A-75C5-2A131BB6EA68}"/>
              </a:ext>
            </a:extLst>
          </p:cNvPr>
          <p:cNvPicPr>
            <a:picLocks noChangeAspect="1"/>
          </p:cNvPicPr>
          <p:nvPr/>
        </p:nvPicPr>
        <p:blipFill>
          <a:blip r:embed="rId3"/>
          <a:stretch>
            <a:fillRect/>
          </a:stretch>
        </p:blipFill>
        <p:spPr>
          <a:xfrm>
            <a:off x="1876663" y="1390448"/>
            <a:ext cx="10971125" cy="5811607"/>
          </a:xfrm>
          <a:prstGeom prst="rect">
            <a:avLst/>
          </a:prstGeom>
        </p:spPr>
      </p:pic>
      <p:sp>
        <p:nvSpPr>
          <p:cNvPr id="7" name="TextBox 6">
            <a:extLst>
              <a:ext uri="{FF2B5EF4-FFF2-40B4-BE49-F238E27FC236}">
                <a16:creationId xmlns:a16="http://schemas.microsoft.com/office/drawing/2014/main" id="{729046F6-3E99-E87E-4A49-4962232F6604}"/>
              </a:ext>
            </a:extLst>
          </p:cNvPr>
          <p:cNvSpPr txBox="1"/>
          <p:nvPr/>
        </p:nvSpPr>
        <p:spPr>
          <a:xfrm>
            <a:off x="4557983" y="288900"/>
            <a:ext cx="5273041" cy="677108"/>
          </a:xfrm>
          <a:prstGeom prst="rect">
            <a:avLst/>
          </a:prstGeom>
          <a:noFill/>
        </p:spPr>
        <p:txBody>
          <a:bodyPr wrap="square">
            <a:spAutoFit/>
          </a:bodyPr>
          <a:lstStyle/>
          <a:p>
            <a:pPr algn="ctr"/>
            <a:r>
              <a:rPr lang="en-US" sz="3800" dirty="0">
                <a:solidFill>
                  <a:srgbClr val="020202"/>
                </a:solidFill>
                <a:latin typeface="PT Serif" pitchFamily="34" charset="0"/>
                <a:ea typeface="PT Serif" pitchFamily="34" charset="-122"/>
                <a:cs typeface="PT Serif" pitchFamily="34" charset="-120"/>
              </a:rPr>
              <a:t>Display Job</a:t>
            </a:r>
            <a:endParaRPr lang="en-IN" sz="3800" dirty="0"/>
          </a:p>
        </p:txBody>
      </p:sp>
      <p:pic>
        <p:nvPicPr>
          <p:cNvPr id="4" name="Picture 3">
            <a:extLst>
              <a:ext uri="{FF2B5EF4-FFF2-40B4-BE49-F238E27FC236}">
                <a16:creationId xmlns:a16="http://schemas.microsoft.com/office/drawing/2014/main" id="{4ED2150D-E8A5-B130-4BDA-EBA7643529C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3790" y="1047698"/>
            <a:ext cx="12243936" cy="6497108"/>
          </a:xfrm>
          <a:prstGeom prst="rect">
            <a:avLst/>
          </a:prstGeom>
          <a:noFill/>
          <a:ln>
            <a:noFill/>
          </a:ln>
        </p:spPr>
      </p:pic>
    </p:spTree>
    <p:extLst>
      <p:ext uri="{BB962C8B-B14F-4D97-AF65-F5344CB8AC3E}">
        <p14:creationId xmlns:p14="http://schemas.microsoft.com/office/powerpoint/2010/main" val="2266925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6DA72-5434-8D99-6EEF-10E282EAD7C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53EC8D-202B-7625-17BB-77972E8E1093}"/>
              </a:ext>
            </a:extLst>
          </p:cNvPr>
          <p:cNvSpPr/>
          <p:nvPr/>
        </p:nvSpPr>
        <p:spPr>
          <a:xfrm>
            <a:off x="793790" y="3933349"/>
            <a:ext cx="2165747"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3" name="Text 1">
            <a:extLst>
              <a:ext uri="{FF2B5EF4-FFF2-40B4-BE49-F238E27FC236}">
                <a16:creationId xmlns:a16="http://schemas.microsoft.com/office/drawing/2014/main" id="{5611FA57-63C3-3C58-7897-928F15C32B66}"/>
              </a:ext>
            </a:extLst>
          </p:cNvPr>
          <p:cNvSpPr/>
          <p:nvPr/>
        </p:nvSpPr>
        <p:spPr>
          <a:xfrm>
            <a:off x="3520559" y="3933349"/>
            <a:ext cx="10323552"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Rectangle 5">
            <a:extLst>
              <a:ext uri="{FF2B5EF4-FFF2-40B4-BE49-F238E27FC236}">
                <a16:creationId xmlns:a16="http://schemas.microsoft.com/office/drawing/2014/main" id="{9CC6C91D-324C-F09A-C787-A6102874CCAD}"/>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pic>
        <p:nvPicPr>
          <p:cNvPr id="7" name="Picture 6">
            <a:extLst>
              <a:ext uri="{FF2B5EF4-FFF2-40B4-BE49-F238E27FC236}">
                <a16:creationId xmlns:a16="http://schemas.microsoft.com/office/drawing/2014/main" id="{DB29E41F-3C0C-6A86-7C3F-7F7BB5C997C9}"/>
              </a:ext>
            </a:extLst>
          </p:cNvPr>
          <p:cNvPicPr>
            <a:picLocks noChangeAspect="1"/>
          </p:cNvPicPr>
          <p:nvPr/>
        </p:nvPicPr>
        <p:blipFill>
          <a:blip r:embed="rId3"/>
          <a:stretch>
            <a:fillRect/>
          </a:stretch>
        </p:blipFill>
        <p:spPr>
          <a:xfrm>
            <a:off x="1007103" y="1117812"/>
            <a:ext cx="12616193" cy="6715919"/>
          </a:xfrm>
          <a:prstGeom prst="rect">
            <a:avLst/>
          </a:prstGeom>
        </p:spPr>
      </p:pic>
      <p:sp>
        <p:nvSpPr>
          <p:cNvPr id="9" name="TextBox 8">
            <a:extLst>
              <a:ext uri="{FF2B5EF4-FFF2-40B4-BE49-F238E27FC236}">
                <a16:creationId xmlns:a16="http://schemas.microsoft.com/office/drawing/2014/main" id="{E06F9B6B-0047-4952-8364-3014E49704C3}"/>
              </a:ext>
            </a:extLst>
          </p:cNvPr>
          <p:cNvSpPr txBox="1"/>
          <p:nvPr/>
        </p:nvSpPr>
        <p:spPr>
          <a:xfrm>
            <a:off x="4678678" y="285916"/>
            <a:ext cx="5273041" cy="677108"/>
          </a:xfrm>
          <a:prstGeom prst="rect">
            <a:avLst/>
          </a:prstGeom>
          <a:noFill/>
        </p:spPr>
        <p:txBody>
          <a:bodyPr wrap="square">
            <a:spAutoFit/>
          </a:bodyPr>
          <a:lstStyle/>
          <a:p>
            <a:pPr algn="ctr"/>
            <a:r>
              <a:rPr lang="en-US" sz="3800" dirty="0">
                <a:solidFill>
                  <a:srgbClr val="020202"/>
                </a:solidFill>
                <a:latin typeface="PT Serif" pitchFamily="34" charset="0"/>
                <a:ea typeface="PT Serif" pitchFamily="34" charset="-122"/>
                <a:cs typeface="PT Serif" pitchFamily="34" charset="-120"/>
              </a:rPr>
              <a:t>Job Details</a:t>
            </a:r>
            <a:endParaRPr lang="en-IN" sz="3800" dirty="0"/>
          </a:p>
        </p:txBody>
      </p:sp>
      <p:pic>
        <p:nvPicPr>
          <p:cNvPr id="4" name="Picture 3">
            <a:extLst>
              <a:ext uri="{FF2B5EF4-FFF2-40B4-BE49-F238E27FC236}">
                <a16:creationId xmlns:a16="http://schemas.microsoft.com/office/drawing/2014/main" id="{22D13471-E043-85EE-E974-0A6345072C1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07103" y="1161928"/>
            <a:ext cx="12616192" cy="6735486"/>
          </a:xfrm>
          <a:prstGeom prst="rect">
            <a:avLst/>
          </a:prstGeom>
          <a:noFill/>
          <a:ln>
            <a:noFill/>
          </a:ln>
        </p:spPr>
      </p:pic>
    </p:spTree>
    <p:extLst>
      <p:ext uri="{BB962C8B-B14F-4D97-AF65-F5344CB8AC3E}">
        <p14:creationId xmlns:p14="http://schemas.microsoft.com/office/powerpoint/2010/main" val="1830963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0EDF2-E1C5-2EEE-8CC2-3C15DC7FCD8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2632E58-25FD-BBCB-CC0C-4C8F8E34F7DB}"/>
              </a:ext>
            </a:extLst>
          </p:cNvPr>
          <p:cNvSpPr/>
          <p:nvPr/>
        </p:nvSpPr>
        <p:spPr>
          <a:xfrm>
            <a:off x="793790" y="3933349"/>
            <a:ext cx="2165747"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3" name="Text 1">
            <a:extLst>
              <a:ext uri="{FF2B5EF4-FFF2-40B4-BE49-F238E27FC236}">
                <a16:creationId xmlns:a16="http://schemas.microsoft.com/office/drawing/2014/main" id="{4D1A529E-40CC-BF45-3B9F-7E0FD35481AF}"/>
              </a:ext>
            </a:extLst>
          </p:cNvPr>
          <p:cNvSpPr/>
          <p:nvPr/>
        </p:nvSpPr>
        <p:spPr>
          <a:xfrm>
            <a:off x="3520559" y="3933349"/>
            <a:ext cx="10323552"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Rectangle 5">
            <a:extLst>
              <a:ext uri="{FF2B5EF4-FFF2-40B4-BE49-F238E27FC236}">
                <a16:creationId xmlns:a16="http://schemas.microsoft.com/office/drawing/2014/main" id="{5C367A04-9EF8-F29B-5051-CECED8A651A4}"/>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pic>
        <p:nvPicPr>
          <p:cNvPr id="5" name="Picture 4">
            <a:extLst>
              <a:ext uri="{FF2B5EF4-FFF2-40B4-BE49-F238E27FC236}">
                <a16:creationId xmlns:a16="http://schemas.microsoft.com/office/drawing/2014/main" id="{F6452FEF-B72C-1B8C-246A-F0B25F35DA58}"/>
              </a:ext>
            </a:extLst>
          </p:cNvPr>
          <p:cNvPicPr>
            <a:picLocks noChangeAspect="1"/>
          </p:cNvPicPr>
          <p:nvPr/>
        </p:nvPicPr>
        <p:blipFill>
          <a:blip r:embed="rId3"/>
          <a:stretch>
            <a:fillRect/>
          </a:stretch>
        </p:blipFill>
        <p:spPr>
          <a:xfrm>
            <a:off x="1159917" y="1029267"/>
            <a:ext cx="12310565" cy="6533970"/>
          </a:xfrm>
          <a:prstGeom prst="rect">
            <a:avLst/>
          </a:prstGeom>
        </p:spPr>
      </p:pic>
      <p:sp>
        <p:nvSpPr>
          <p:cNvPr id="9" name="TextBox 8">
            <a:extLst>
              <a:ext uri="{FF2B5EF4-FFF2-40B4-BE49-F238E27FC236}">
                <a16:creationId xmlns:a16="http://schemas.microsoft.com/office/drawing/2014/main" id="{4D24BBD1-24D3-F007-A1AF-F12B448DFA06}"/>
              </a:ext>
            </a:extLst>
          </p:cNvPr>
          <p:cNvSpPr txBox="1"/>
          <p:nvPr/>
        </p:nvSpPr>
        <p:spPr>
          <a:xfrm>
            <a:off x="4678678" y="327809"/>
            <a:ext cx="5273041" cy="677108"/>
          </a:xfrm>
          <a:prstGeom prst="rect">
            <a:avLst/>
          </a:prstGeom>
          <a:noFill/>
        </p:spPr>
        <p:txBody>
          <a:bodyPr wrap="square">
            <a:spAutoFit/>
          </a:bodyPr>
          <a:lstStyle/>
          <a:p>
            <a:pPr algn="ctr"/>
            <a:r>
              <a:rPr lang="en-US" sz="3800" dirty="0">
                <a:solidFill>
                  <a:srgbClr val="020202"/>
                </a:solidFill>
                <a:latin typeface="PT Serif" pitchFamily="34" charset="0"/>
                <a:ea typeface="PT Serif" pitchFamily="34" charset="-122"/>
                <a:cs typeface="PT Serif" pitchFamily="34" charset="-120"/>
              </a:rPr>
              <a:t>Dashboard</a:t>
            </a:r>
            <a:endParaRPr lang="en-IN" sz="3800" dirty="0"/>
          </a:p>
        </p:txBody>
      </p:sp>
      <p:pic>
        <p:nvPicPr>
          <p:cNvPr id="4" name="Picture 3">
            <a:extLst>
              <a:ext uri="{FF2B5EF4-FFF2-40B4-BE49-F238E27FC236}">
                <a16:creationId xmlns:a16="http://schemas.microsoft.com/office/drawing/2014/main" id="{C97B7AFA-3E06-ECDF-DD8C-700DF3B6DB4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9917" y="1037455"/>
            <a:ext cx="12310564" cy="6596665"/>
          </a:xfrm>
          <a:prstGeom prst="rect">
            <a:avLst/>
          </a:prstGeom>
          <a:noFill/>
          <a:ln>
            <a:noFill/>
          </a:ln>
        </p:spPr>
      </p:pic>
      <p:pic>
        <p:nvPicPr>
          <p:cNvPr id="7" name="Picture 6">
            <a:extLst>
              <a:ext uri="{FF2B5EF4-FFF2-40B4-BE49-F238E27FC236}">
                <a16:creationId xmlns:a16="http://schemas.microsoft.com/office/drawing/2014/main" id="{81FBEBFE-F550-C3B1-E38F-EE2D6A50076A}"/>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59915" y="1048841"/>
            <a:ext cx="12310567" cy="6548965"/>
          </a:xfrm>
          <a:prstGeom prst="rect">
            <a:avLst/>
          </a:prstGeom>
          <a:noFill/>
          <a:ln>
            <a:noFill/>
          </a:ln>
        </p:spPr>
      </p:pic>
      <p:pic>
        <p:nvPicPr>
          <p:cNvPr id="8" name="Picture 7">
            <a:extLst>
              <a:ext uri="{FF2B5EF4-FFF2-40B4-BE49-F238E27FC236}">
                <a16:creationId xmlns:a16="http://schemas.microsoft.com/office/drawing/2014/main" id="{510766D1-5035-5B11-E9E7-0CC6BBAF2F9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59916" y="1048841"/>
            <a:ext cx="12466873" cy="6680424"/>
          </a:xfrm>
          <a:prstGeom prst="rect">
            <a:avLst/>
          </a:prstGeom>
          <a:noFill/>
          <a:ln>
            <a:noFill/>
          </a:ln>
        </p:spPr>
      </p:pic>
    </p:spTree>
    <p:extLst>
      <p:ext uri="{BB962C8B-B14F-4D97-AF65-F5344CB8AC3E}">
        <p14:creationId xmlns:p14="http://schemas.microsoft.com/office/powerpoint/2010/main" val="295870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E4A153-1B4A-ED60-761F-D273A3434E9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D83A3DE-D6E1-F396-0ECD-FAF58411F735}"/>
              </a:ext>
            </a:extLst>
          </p:cNvPr>
          <p:cNvSpPr/>
          <p:nvPr/>
        </p:nvSpPr>
        <p:spPr>
          <a:xfrm>
            <a:off x="793790" y="3933349"/>
            <a:ext cx="2165747"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3" name="Text 1">
            <a:extLst>
              <a:ext uri="{FF2B5EF4-FFF2-40B4-BE49-F238E27FC236}">
                <a16:creationId xmlns:a16="http://schemas.microsoft.com/office/drawing/2014/main" id="{F51B59AB-C805-C3B5-DA6E-8B8A9C87610C}"/>
              </a:ext>
            </a:extLst>
          </p:cNvPr>
          <p:cNvSpPr/>
          <p:nvPr/>
        </p:nvSpPr>
        <p:spPr>
          <a:xfrm>
            <a:off x="3520559" y="3933349"/>
            <a:ext cx="10323552" cy="362903"/>
          </a:xfrm>
          <a:prstGeom prst="rect">
            <a:avLst/>
          </a:prstGeom>
          <a:noFill/>
          <a:ln/>
        </p:spPr>
        <p:txBody>
          <a:bodyPr wrap="none" lIns="0" tIns="0" rIns="0" bIns="0" rtlCol="0" anchor="t"/>
          <a:lstStyle/>
          <a:p>
            <a:pPr marL="0" indent="0" algn="l">
              <a:lnSpc>
                <a:spcPts val="2850"/>
              </a:lnSpc>
              <a:buNone/>
            </a:pPr>
            <a:endParaRPr lang="en-US" sz="1750" dirty="0"/>
          </a:p>
        </p:txBody>
      </p:sp>
      <p:sp>
        <p:nvSpPr>
          <p:cNvPr id="6" name="Rectangle 5">
            <a:extLst>
              <a:ext uri="{FF2B5EF4-FFF2-40B4-BE49-F238E27FC236}">
                <a16:creationId xmlns:a16="http://schemas.microsoft.com/office/drawing/2014/main" id="{7BDFA2E4-1785-853A-753A-D5865B77212E}"/>
              </a:ext>
            </a:extLst>
          </p:cNvPr>
          <p:cNvSpPr/>
          <p:nvPr/>
        </p:nvSpPr>
        <p:spPr>
          <a:xfrm>
            <a:off x="12634332"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
        <p:nvSpPr>
          <p:cNvPr id="9" name="TextBox 8">
            <a:extLst>
              <a:ext uri="{FF2B5EF4-FFF2-40B4-BE49-F238E27FC236}">
                <a16:creationId xmlns:a16="http://schemas.microsoft.com/office/drawing/2014/main" id="{F9FF3915-38C9-9999-180E-1DD5AA8ADB0C}"/>
              </a:ext>
            </a:extLst>
          </p:cNvPr>
          <p:cNvSpPr txBox="1"/>
          <p:nvPr/>
        </p:nvSpPr>
        <p:spPr>
          <a:xfrm>
            <a:off x="4678678" y="252240"/>
            <a:ext cx="5273041" cy="677108"/>
          </a:xfrm>
          <a:prstGeom prst="rect">
            <a:avLst/>
          </a:prstGeom>
          <a:noFill/>
        </p:spPr>
        <p:txBody>
          <a:bodyPr wrap="square">
            <a:spAutoFit/>
          </a:bodyPr>
          <a:lstStyle/>
          <a:p>
            <a:pPr algn="ctr"/>
            <a:r>
              <a:rPr lang="en-US" sz="3800" dirty="0">
                <a:solidFill>
                  <a:srgbClr val="020202"/>
                </a:solidFill>
                <a:latin typeface="PT Serif" pitchFamily="34" charset="0"/>
                <a:ea typeface="PT Serif" pitchFamily="34" charset="-122"/>
                <a:cs typeface="PT Serif" pitchFamily="34" charset="-120"/>
              </a:rPr>
              <a:t>Apply Job</a:t>
            </a:r>
            <a:endParaRPr lang="en-IN" sz="3800" dirty="0"/>
          </a:p>
        </p:txBody>
      </p:sp>
      <p:pic>
        <p:nvPicPr>
          <p:cNvPr id="4" name="Picture 3">
            <a:extLst>
              <a:ext uri="{FF2B5EF4-FFF2-40B4-BE49-F238E27FC236}">
                <a16:creationId xmlns:a16="http://schemas.microsoft.com/office/drawing/2014/main" id="{33006EA9-BC00-4235-F97B-0140C8FA1FC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7717" y="1013553"/>
            <a:ext cx="11864058" cy="6357403"/>
          </a:xfrm>
          <a:prstGeom prst="rect">
            <a:avLst/>
          </a:prstGeom>
          <a:noFill/>
          <a:ln>
            <a:noFill/>
          </a:ln>
        </p:spPr>
      </p:pic>
    </p:spTree>
    <p:extLst>
      <p:ext uri="{BB962C8B-B14F-4D97-AF65-F5344CB8AC3E}">
        <p14:creationId xmlns:p14="http://schemas.microsoft.com/office/powerpoint/2010/main" val="32801731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E91E147-E30E-6516-CC08-1734FB4C202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99789" y="1115122"/>
            <a:ext cx="11630822" cy="6209419"/>
          </a:xfrm>
          <a:prstGeom prst="rect">
            <a:avLst/>
          </a:prstGeom>
          <a:noFill/>
          <a:ln>
            <a:noFill/>
          </a:ln>
        </p:spPr>
      </p:pic>
    </p:spTree>
    <p:extLst>
      <p:ext uri="{BB962C8B-B14F-4D97-AF65-F5344CB8AC3E}">
        <p14:creationId xmlns:p14="http://schemas.microsoft.com/office/powerpoint/2010/main" val="19814833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282C55B-6E29-E5D4-1023-011A9470332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74362" y="1494263"/>
            <a:ext cx="10704213" cy="5694028"/>
          </a:xfrm>
          <a:prstGeom prst="rect">
            <a:avLst/>
          </a:prstGeom>
          <a:noFill/>
          <a:ln>
            <a:noFill/>
          </a:ln>
        </p:spPr>
      </p:pic>
      <p:sp>
        <p:nvSpPr>
          <p:cNvPr id="4" name="Rectangle 3">
            <a:extLst>
              <a:ext uri="{FF2B5EF4-FFF2-40B4-BE49-F238E27FC236}">
                <a16:creationId xmlns:a16="http://schemas.microsoft.com/office/drawing/2014/main" id="{D5D1D5DD-3FDD-F7C0-5EE3-9E04171AB71D}"/>
              </a:ext>
            </a:extLst>
          </p:cNvPr>
          <p:cNvSpPr/>
          <p:nvPr/>
        </p:nvSpPr>
        <p:spPr>
          <a:xfrm>
            <a:off x="12879659" y="7783551"/>
            <a:ext cx="1672682" cy="35683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842146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27D5A3B-288E-C5C9-A47F-4329AF3513C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61171" y="1448590"/>
            <a:ext cx="10640783" cy="5674160"/>
          </a:xfrm>
          <a:prstGeom prst="rect">
            <a:avLst/>
          </a:prstGeom>
          <a:noFill/>
          <a:ln>
            <a:noFill/>
          </a:ln>
        </p:spPr>
      </p:pic>
    </p:spTree>
    <p:extLst>
      <p:ext uri="{BB962C8B-B14F-4D97-AF65-F5344CB8AC3E}">
        <p14:creationId xmlns:p14="http://schemas.microsoft.com/office/powerpoint/2010/main" val="185575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3A0CB65-0536-7504-121C-1475C8485E2F}"/>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609385" y="1926994"/>
            <a:ext cx="9523142" cy="5103014"/>
          </a:xfrm>
          <a:prstGeom prst="rect">
            <a:avLst/>
          </a:prstGeom>
          <a:noFill/>
          <a:ln>
            <a:noFill/>
          </a:ln>
        </p:spPr>
      </p:pic>
    </p:spTree>
    <p:extLst>
      <p:ext uri="{BB962C8B-B14F-4D97-AF65-F5344CB8AC3E}">
        <p14:creationId xmlns:p14="http://schemas.microsoft.com/office/powerpoint/2010/main" val="3761645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2E45233-E33F-7A6A-310E-6B4F026F6966}"/>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08302" y="1598099"/>
            <a:ext cx="9835376" cy="5263689"/>
          </a:xfrm>
          <a:prstGeom prst="rect">
            <a:avLst/>
          </a:prstGeom>
          <a:noFill/>
          <a:ln>
            <a:noFill/>
          </a:ln>
        </p:spPr>
      </p:pic>
    </p:spTree>
    <p:extLst>
      <p:ext uri="{BB962C8B-B14F-4D97-AF65-F5344CB8AC3E}">
        <p14:creationId xmlns:p14="http://schemas.microsoft.com/office/powerpoint/2010/main" val="21348210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0CA6F21-09B1-C6EF-F6FA-D94284A40F6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19814" y="1521420"/>
            <a:ext cx="10214518" cy="5460173"/>
          </a:xfrm>
          <a:prstGeom prst="rect">
            <a:avLst/>
          </a:prstGeom>
          <a:noFill/>
          <a:ln>
            <a:noFill/>
          </a:ln>
        </p:spPr>
      </p:pic>
    </p:spTree>
    <p:extLst>
      <p:ext uri="{BB962C8B-B14F-4D97-AF65-F5344CB8AC3E}">
        <p14:creationId xmlns:p14="http://schemas.microsoft.com/office/powerpoint/2010/main" val="17402393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35A9D89-98EF-66D2-71A3-144D5E102DD3}"/>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93597" y="1806498"/>
            <a:ext cx="10261232" cy="5491598"/>
          </a:xfrm>
          <a:prstGeom prst="rect">
            <a:avLst/>
          </a:prstGeom>
          <a:noFill/>
          <a:ln>
            <a:noFill/>
          </a:ln>
        </p:spPr>
      </p:pic>
    </p:spTree>
    <p:extLst>
      <p:ext uri="{BB962C8B-B14F-4D97-AF65-F5344CB8AC3E}">
        <p14:creationId xmlns:p14="http://schemas.microsoft.com/office/powerpoint/2010/main" val="15521487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338101" y="572751"/>
            <a:ext cx="5954197" cy="744260"/>
          </a:xfrm>
          <a:prstGeom prst="rect">
            <a:avLst/>
          </a:prstGeom>
          <a:noFill/>
          <a:ln/>
        </p:spPr>
        <p:txBody>
          <a:bodyPr wrap="none" lIns="0" tIns="0" rIns="0" bIns="0" rtlCol="0" anchor="t"/>
          <a:lstStyle/>
          <a:p>
            <a:r>
              <a:t>Conclusion</a:t>
            </a:r>
          </a:p>
          <a:p/>
          <a:p>
            <a:r>
              <a:t>ThreatShield DL provides an intelligent solution for detecting </a:t>
            </a:r>
          </a:p>
          <a:p>
            <a:r>
              <a:t>malicious web requests using deep learning techniques.</a:t>
            </a:r>
          </a:p>
          <a:p/>
          <a:p>
            <a:r>
              <a:t>The system can identify multiple attack types such as SQL Injection, </a:t>
            </a:r>
          </a:p>
          <a:p>
            <a:r>
              <a:t>XSS, and Path Traversal by analyzing HTTP request patterns.</a:t>
            </a:r>
          </a:p>
          <a:p/>
          <a:p>
            <a:r>
              <a:t>This approach improves the ability to detect cyber threats and </a:t>
            </a:r>
          </a:p>
          <a:p>
            <a:r>
              <a:t>supports administrators in monitoring suspicious activities </a:t>
            </a:r>
          </a:p>
          <a:p>
            <a:r>
              <a:t>within web applications.</a:t>
            </a:r>
          </a:p>
          <a:p/>
        </p:txBody>
      </p:sp>
      <p:sp>
        <p:nvSpPr>
          <p:cNvPr id="3" name="Text 1"/>
          <p:cNvSpPr/>
          <p:nvPr/>
        </p:nvSpPr>
        <p:spPr>
          <a:xfrm>
            <a:off x="793790" y="1955125"/>
            <a:ext cx="13042821" cy="2096014"/>
          </a:xfrm>
          <a:prstGeom prst="rect">
            <a:avLst/>
          </a:prstGeom>
          <a:noFill/>
          <a:ln/>
        </p:spPr>
        <p:txBody>
          <a:bodyPr wrap="square" lIns="0" tIns="0" rIns="0" bIns="0" rtlCol="0" anchor="t"/>
          <a:lstStyle/>
          <a:p>
            <a:pPr>
              <a:lnSpc>
                <a:spcPts val="2850"/>
              </a:lnSpc>
            </a:pPr>
            <a:r>
              <a:rPr lang="en-US" dirty="0"/>
              <a:t>The Job Application Website provides a comprehensive digital solution to overcome the limitations of traditional recruitment systems. By offering features such as job posting, advanced search filters, resume upload, ATS-based screening, and real-time application tracking, the platform enhances transparency and reduces hiring time. Employers gain an organized, data-driven dashboard, while job seekers benefit from faster access to relevant opportunities.</a:t>
            </a:r>
            <a:br>
              <a:rPr lang="en-US" dirty="0"/>
            </a:br>
            <a:r>
              <a:rPr lang="en-US" dirty="0"/>
              <a:t>In conclusion, the system achieves its goal of creating a modern, scalable, and efficient recruitment ecosystem that improves user experience for both job seekers and employers.</a:t>
            </a:r>
          </a:p>
        </p:txBody>
      </p:sp>
      <p:sp>
        <p:nvSpPr>
          <p:cNvPr id="4" name="Text 2"/>
          <p:cNvSpPr/>
          <p:nvPr/>
        </p:nvSpPr>
        <p:spPr>
          <a:xfrm>
            <a:off x="793790" y="4080288"/>
            <a:ext cx="13042821" cy="1088708"/>
          </a:xfrm>
          <a:prstGeom prst="rect">
            <a:avLst/>
          </a:prstGeom>
          <a:noFill/>
          <a:ln/>
        </p:spPr>
        <p:txBody>
          <a:bodyPr wrap="square" lIns="0" tIns="0" rIns="0" bIns="0" rtlCol="0" anchor="t"/>
          <a:lstStyle/>
          <a:p>
            <a:pPr>
              <a:lnSpc>
                <a:spcPts val="2850"/>
              </a:lnSpc>
            </a:pPr>
            <a:r>
              <a:rPr lang="en-US" dirty="0"/>
              <a:t>The proposed Job Application Website successfully streamlines the end-to-end recruitment process by integrating job posting, applicant tracking, resume screening, and communication tools into a single platform. It improves efficiency for employers, enhances accessibility for applicants, and reduces delays in traditional hiring methods. Overall, the system offers a scalable, secure, and reliable solution for modern digital recruitment.</a:t>
            </a:r>
          </a:p>
        </p:txBody>
      </p:sp>
      <p:sp>
        <p:nvSpPr>
          <p:cNvPr id="5" name="Text 3"/>
          <p:cNvSpPr/>
          <p:nvPr/>
        </p:nvSpPr>
        <p:spPr>
          <a:xfrm>
            <a:off x="759066" y="5609339"/>
            <a:ext cx="13042821" cy="1088708"/>
          </a:xfrm>
          <a:prstGeom prst="rect">
            <a:avLst/>
          </a:prstGeom>
          <a:noFill/>
          <a:ln/>
        </p:spPr>
        <p:txBody>
          <a:bodyPr wrap="square" lIns="0" tIns="0" rIns="0" bIns="0" rtlCol="0" anchor="t"/>
          <a:lstStyle/>
          <a:p>
            <a:pPr>
              <a:lnSpc>
                <a:spcPts val="2850"/>
              </a:lnSpc>
            </a:pPr>
            <a:r>
              <a:rPr lang="en-US" dirty="0"/>
              <a:t>The Job Application Website provides an efficient and user-friendly platform that connects job seekers with employers. It simplifies job searching, application submission, and recruitment management, making the hiring process faster, transparent, and more organized.</a:t>
            </a:r>
          </a:p>
        </p:txBody>
      </p:sp>
      <p:sp>
        <p:nvSpPr>
          <p:cNvPr id="6" name="Text 4"/>
          <p:cNvSpPr/>
          <p:nvPr/>
        </p:nvSpPr>
        <p:spPr>
          <a:xfrm>
            <a:off x="793790" y="6548080"/>
            <a:ext cx="13042821" cy="725805"/>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7" name="Rectangle 6">
            <a:extLst>
              <a:ext uri="{FF2B5EF4-FFF2-40B4-BE49-F238E27FC236}">
                <a16:creationId xmlns:a16="http://schemas.microsoft.com/office/drawing/2014/main" id="{7006ADB4-B6C6-0FE6-8EB3-BB0BE353C2D7}"/>
              </a:ext>
            </a:extLst>
          </p:cNvPr>
          <p:cNvSpPr/>
          <p:nvPr/>
        </p:nvSpPr>
        <p:spPr>
          <a:xfrm>
            <a:off x="12623181"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1131213" y="429900"/>
            <a:ext cx="12367974" cy="706993"/>
          </a:xfrm>
          <a:prstGeom prst="rect">
            <a:avLst/>
          </a:prstGeom>
          <a:noFill/>
          <a:ln/>
        </p:spPr>
        <p:txBody>
          <a:bodyPr wrap="none" lIns="0" tIns="0" rIns="0" bIns="0" rtlCol="0" anchor="t"/>
          <a:lstStyle/>
          <a:p>
            <a:pPr marL="0" indent="0" algn="ctr">
              <a:lnSpc>
                <a:spcPts val="5550"/>
              </a:lnSpc>
              <a:buNone/>
            </a:pPr>
            <a:r>
              <a:rPr lang="en-US" sz="3800" dirty="0">
                <a:solidFill>
                  <a:srgbClr val="020202"/>
                </a:solidFill>
                <a:latin typeface="PT Serif" pitchFamily="34" charset="0"/>
                <a:ea typeface="PT Serif" pitchFamily="34" charset="-122"/>
                <a:cs typeface="PT Serif" pitchFamily="34" charset="-120"/>
              </a:rPr>
              <a:t>References</a:t>
            </a:r>
            <a:endParaRPr lang="en-US" sz="3800" dirty="0"/>
          </a:p>
        </p:txBody>
      </p:sp>
      <p:sp>
        <p:nvSpPr>
          <p:cNvPr id="15" name="TextBox 14">
            <a:extLst>
              <a:ext uri="{FF2B5EF4-FFF2-40B4-BE49-F238E27FC236}">
                <a16:creationId xmlns:a16="http://schemas.microsoft.com/office/drawing/2014/main" id="{E6157428-6202-42C4-4588-E2A30C95271B}"/>
              </a:ext>
            </a:extLst>
          </p:cNvPr>
          <p:cNvSpPr txBox="1"/>
          <p:nvPr/>
        </p:nvSpPr>
        <p:spPr>
          <a:xfrm>
            <a:off x="869335" y="2255768"/>
            <a:ext cx="12891730" cy="2862322"/>
          </a:xfrm>
          <a:prstGeom prst="rect">
            <a:avLst/>
          </a:prstGeom>
          <a:noFill/>
        </p:spPr>
        <p:txBody>
          <a:bodyPr wrap="square" rtlCol="0">
            <a:spAutoFit/>
          </a:bodyPr>
          <a:lstStyle/>
          <a:p>
            <a:r>
              <a:rPr lang="en-IN" dirty="0">
                <a:hlinkClick r:id="rId3"/>
              </a:rPr>
              <a:t>https://leetcode.com/</a:t>
            </a:r>
            <a:endParaRPr lang="en-IN" dirty="0"/>
          </a:p>
          <a:p>
            <a:r>
              <a:rPr lang="en-IN" dirty="0">
                <a:hlinkClick r:id="rId4"/>
              </a:rPr>
              <a:t>https://www.hackerrank.com/</a:t>
            </a:r>
            <a:endParaRPr lang="en-IN" dirty="0"/>
          </a:p>
          <a:p>
            <a:r>
              <a:rPr lang="en-IN" dirty="0">
                <a:hlinkClick r:id="rId5"/>
              </a:rPr>
              <a:t>https://www.interviewbit.com/</a:t>
            </a:r>
            <a:endParaRPr lang="en-IN" dirty="0"/>
          </a:p>
          <a:p>
            <a:r>
              <a:rPr lang="en-IN" dirty="0">
                <a:hlinkClick r:id="rId6"/>
              </a:rPr>
              <a:t>https://www.geeksforgeeks.org/</a:t>
            </a:r>
            <a:endParaRPr lang="en-IN" dirty="0"/>
          </a:p>
          <a:p>
            <a:r>
              <a:rPr lang="en-IN" dirty="0">
                <a:hlinkClick r:id="rId7"/>
              </a:rPr>
              <a:t>https://aws.amazon.com/</a:t>
            </a:r>
            <a:endParaRPr lang="en-IN" dirty="0"/>
          </a:p>
          <a:p>
            <a:r>
              <a:rPr lang="en-IN" dirty="0">
                <a:hlinkClick r:id="rId8"/>
              </a:rPr>
              <a:t>https://judge0.com/</a:t>
            </a:r>
            <a:endParaRPr lang="en-IN" dirty="0"/>
          </a:p>
          <a:p>
            <a:r>
              <a:rPr lang="en-IN" dirty="0">
                <a:hlinkClick r:id="rId9"/>
              </a:rPr>
              <a:t>https://nextjs.org/docs</a:t>
            </a:r>
            <a:endParaRPr lang="en-IN" dirty="0"/>
          </a:p>
          <a:p>
            <a:r>
              <a:rPr lang="en-IN" dirty="0">
                <a:hlinkClick r:id="rId10"/>
              </a:rPr>
              <a:t>https://authjs.dev/</a:t>
            </a:r>
            <a:endParaRPr lang="en-IN" dirty="0"/>
          </a:p>
          <a:p>
            <a:r>
              <a:rPr lang="en-IN" dirty="0">
                <a:hlinkClick r:id="rId11"/>
              </a:rPr>
              <a:t>https://www.npmjs.com/package/@monaco-editor/react</a:t>
            </a:r>
            <a:endParaRPr lang="en-IN" dirty="0"/>
          </a:p>
          <a:p>
            <a:endParaRPr lang="en-IN" dirty="0"/>
          </a:p>
        </p:txBody>
      </p:sp>
      <p:sp>
        <p:nvSpPr>
          <p:cNvPr id="3" name="Rectangle 2">
            <a:extLst>
              <a:ext uri="{FF2B5EF4-FFF2-40B4-BE49-F238E27FC236}">
                <a16:creationId xmlns:a16="http://schemas.microsoft.com/office/drawing/2014/main" id="{D53B3043-C406-4B7B-05D2-4CFC11CE7D37}"/>
              </a:ext>
            </a:extLst>
          </p:cNvPr>
          <p:cNvSpPr/>
          <p:nvPr/>
        </p:nvSpPr>
        <p:spPr>
          <a:xfrm>
            <a:off x="12623181" y="7515922"/>
            <a:ext cx="1996068" cy="63561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highlight>
                <a:srgbClr val="FFFF00"/>
              </a:highligh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653</TotalTime>
  <Words>1145</Words>
  <Application>Microsoft Office PowerPoint</Application>
  <PresentationFormat>Custom</PresentationFormat>
  <Paragraphs>131</Paragraphs>
  <Slides>24</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Times New Roman</vt:lpstr>
      <vt:lpstr>PT Serif</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admin</dc:creator>
  <cp:lastModifiedBy>AMOGH KALYANSHETTI</cp:lastModifiedBy>
  <cp:revision>24</cp:revision>
  <dcterms:created xsi:type="dcterms:W3CDTF">2025-10-03T06:26:33Z</dcterms:created>
  <dcterms:modified xsi:type="dcterms:W3CDTF">2025-12-02T08:36:44Z</dcterms:modified>
</cp:coreProperties>
</file>